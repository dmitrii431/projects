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960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0"/>
            <a:ext cx="12192000" cy="9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432000"/>
            <a:ext cx="1111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Roboto"/>
              </a:rPr>
              <a:t>САНКТ-ПЕТЕРБУРГСКИЙ ГОСУДАРСТВЕННЫЙ УНИВЕРСИТЕТ АЭРОКОСМИЧЕСКОГО ПРИБОРОСТРОЕНИЯ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36000"/>
            <a:ext cx="1111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FFFFFF"/>
                </a:solidFill>
                <a:latin typeface="Roboto"/>
              </a:rPr>
              <a:t>Кафедра № 5 «Инноватики и интегрированных систем качества»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1111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Roboto"/>
              </a:rPr>
              <a:t>ОТЧЁТ О НАУЧНО-ИССЛЕДОВАТЕЛЬСКОЙ РАБОТЕ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160000"/>
            <a:ext cx="10392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Roboto"/>
              </a:rPr>
              <a:t>Разработка системы поддержки принятия решений по оценке рисков внедрения технологий искусственного интеллекта в IT-компании на основе нечёткой логики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464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3F7F"/>
                </a:solidFill>
                <a:latin typeface="Roboto"/>
              </a:rPr>
              <a:t>Магистрант: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680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Roboto"/>
              </a:rPr>
              <a:t>Рослов Дмитрий Сергеевич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4932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Roboto"/>
              </a:rPr>
              <a:t>группа М558М, направление 27.04.05 «Инноватика»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000" y="4464000"/>
            <a:ext cx="50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3F7F"/>
                </a:solidFill>
                <a:latin typeface="Roboto"/>
              </a:rPr>
              <a:t>Научный руководитель: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2000" y="4680000"/>
            <a:ext cx="50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Roboto"/>
              </a:rPr>
              <a:t>Гетманова Галина Владимировна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4932000"/>
            <a:ext cx="50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Roboto"/>
              </a:rPr>
              <a:t>канд. экон. наук, доцент кафедры №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5544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3F7F"/>
                </a:solidFill>
                <a:latin typeface="Roboto"/>
              </a:rPr>
              <a:t>Дисциплина: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5760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Roboto"/>
              </a:rPr>
              <a:t>Научно-исследовательская работа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000" y="5544000"/>
            <a:ext cx="50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3F7F"/>
                </a:solidFill>
                <a:latin typeface="Roboto"/>
              </a:rPr>
              <a:t>Преподаватель НИР: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0" y="5760000"/>
            <a:ext cx="50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Roboto"/>
              </a:rPr>
              <a:t>Жильникова Н. А., профессор, д.т.н., доц.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318000"/>
            <a:ext cx="12192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Roboto"/>
              </a:rPr>
              <a:t>Санкт-Петербург,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000" cy="6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98000"/>
            <a:ext cx="11328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Roboto"/>
              </a:rPr>
              <a:t>Актуальность темы и научно-практическая задача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92000" cy="216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588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ГУАП • Кафедра № 5 • НИР,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0000" y="6588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2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8102E"/>
                </a:solidFill>
                <a:latin typeface="Roboto"/>
              </a:rPr>
              <a:t>АКТУАЛЬНОСТЬ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584000"/>
            <a:ext cx="54000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Рынок ИИ в РФ: 900 млрд ₽ в 2024 г. → 1,7 трлн ₽ к 2026 г.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Указ Президента РФ № 490, ФЗ-123, Кодекс этики ИИ 2021 г.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От 70 до 85 % ИИ-проектов не достигают целей (Gartner, IDC).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Специфические риски: галлюцинации, concept drift, adversarial-атаки, регуляторные и этические ограничения.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Классические FMEA / экспертные методы плохо работают при малых выборках и качественных оценках.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1260000"/>
            <a:ext cx="5580000" cy="414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0" y="1368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F7F"/>
                </a:solidFill>
                <a:latin typeface="Roboto"/>
              </a:rPr>
              <a:t>НАУЧНО-ПРАКТИЧЕСКАЯ ЗАДАЧА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000" y="1728000"/>
            <a:ext cx="5220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Roboto"/>
              </a:rPr>
              <a:t>Разработать систему поддержки принятия решений (СППР), обеспечивающую интегральную оценку рисков внедрения технологий ИИ в IT-компании путём интеграции модифицированного FMEA-анализа с нечётким выводом Мамдани и дефаззификацией методом центра тяжести, с категоризацией интегрального уровня риска R ∈ [0; 100] и формированием обоснованной рекомендации для лица, принимающего решение.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000" cy="6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98000"/>
            <a:ext cx="11328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Roboto"/>
              </a:rPr>
              <a:t>Цель и задачи магистерской диссертации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92000" cy="216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588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ГУАП • Кафедра № 5 • НИР,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0000" y="6588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3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11328000" cy="93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1332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8102E"/>
                </a:solidFill>
                <a:latin typeface="Roboto"/>
              </a:rPr>
              <a:t>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4000"/>
            <a:ext cx="11040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A1A"/>
                </a:solidFill>
                <a:latin typeface="Roboto"/>
              </a:rPr>
              <a:t>Разработать систему поддержки принятия решений по оценке рисков внедрения технологий искусственного интеллекта в IT-компании на основе аппарата нечёткой логики.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2376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F7F"/>
                </a:solidFill>
                <a:latin typeface="Roboto"/>
              </a:rPr>
              <a:t>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664000"/>
            <a:ext cx="1132800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▸  Проанализировать современное состояние ИИ-технологий в IT-секторе, идентифицировать и классифицировать характерные риски внедрения.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▸  Выполнить систематический обзор существующих методов оценки рисков и обосновать применимость аппарата нечёткой логики.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▸  Разработать гибридную модель оценки рисков: модифицированный FMEA + нечёткий вывод Мамдани + дефаззификация методом центра тяжести.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▸  Сформировать систему лингвистических переменных и базу продукционных правил, откалиброванную на ретроспективных данных IT-проектов.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▸  Реализовать СППР программно, провести верификацию и валидацию, выполнить технико-экономическое обоснование внедрения.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000" cy="6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98000"/>
            <a:ext cx="11328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Roboto"/>
              </a:rPr>
              <a:t>Объект и предмет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92000" cy="216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588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ГУАП • Кафедра № 5 • НИР,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0000" y="6588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44000" cy="144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764000"/>
            <a:ext cx="5544000" cy="360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871999"/>
            <a:ext cx="525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F7F"/>
                </a:solidFill>
                <a:latin typeface="Roboto"/>
              </a:rPr>
              <a:t>ОБЪЕКТ ИССЛЕДОВАНИЯ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2340000"/>
            <a:ext cx="525600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A1A"/>
                </a:solidFill>
                <a:latin typeface="Roboto"/>
              </a:rPr>
              <a:t>Процессы внедрения технологий искусственного интеллекта в IT-компаниях.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8000" y="1620000"/>
            <a:ext cx="5544000" cy="144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8000" y="1764000"/>
            <a:ext cx="5544000" cy="360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871999"/>
            <a:ext cx="525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8102E"/>
                </a:solidFill>
                <a:latin typeface="Roboto"/>
              </a:rPr>
              <a:t>ПРЕДМЕТ ИССЛЕДОВАНИЯ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2340000"/>
            <a:ext cx="525600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A1A"/>
                </a:solidFill>
                <a:latin typeface="Roboto"/>
              </a:rPr>
              <a:t>Методы и средства оценки рисков внедрения технологий искусственного интеллекта на основе аппарата нечёткой логики.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000" cy="6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98000"/>
            <a:ext cx="11328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Roboto"/>
              </a:rPr>
              <a:t>Выводы по первой главе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92000" cy="216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588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ГУАП • Кафедра № 5 • НИР,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0000" y="6588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5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28000" cy="5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✓  ИИ-технологии стали системообразующим фактором развития IT-сектора (российский рынок 650 → 1700 млрд ₽ к 2026 г., доля компаний с ИИ — 47 %).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✓  Внедрение ИИ сопряжено со специфическими рисками; предложена авторская типология из 6 категорий: технологические, безопасностные, организационно-кадровые, финансовые, регуляторно-этические, репутационные.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✓  Сформирована нормативная база (ГОСТ Р 31000-2019, ГОСТ Р 59276-2020, ISO/IEC 23894:2023, ISO/IEC 42001:2023, NIST AI RMF 1.0, EU AI Act 2024); типовые модели для IT-сектора отсутствуют.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✓  Классические методы (вероятностный анализ, дерево событий, классический FMEA) ограниченно применимы к ИИ-проектам с малыми выборками и качественной экспертной информацией.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✓  Аппарат нечёткой логики (Заде, Мамдани, Сугено) обеспечивает формализованную обработку качественной информации; гибридная схема «модифицированный FMEA + вывод Мамдани + центр тяжести» — методически обоснованный выбор.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✓  Сформулирована научно-практическая задача — разработать СППР с интегральной оценкой риска R ∈ [0; 100], категоризацией и обоснованной рекомендацией ЛПР.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000" cy="6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98000"/>
            <a:ext cx="11328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Roboto"/>
              </a:rPr>
              <a:t>Апробация результатов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92000" cy="216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588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ГУАП • Кафедра № 5 • НИР,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0000" y="6588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6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96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8102E"/>
                </a:solidFill>
                <a:latin typeface="Roboto"/>
              </a:rPr>
              <a:t>ПУБЛИКАЦИИ ПО ТЕМЕ ИССЛЕДОВАНИЯ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655999"/>
            <a:ext cx="11328000" cy="201599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655999"/>
            <a:ext cx="64800" cy="2015999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1745999"/>
            <a:ext cx="1008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3F7F"/>
                </a:solidFill>
                <a:latin typeface="Roboto"/>
              </a:rPr>
              <a:t>СТАТЬЯ №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" y="1980000"/>
            <a:ext cx="1111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A1A1A"/>
                </a:solidFill>
                <a:latin typeface="Roboto"/>
              </a:rPr>
              <a:t>Современное состояние и перспективы применения нечёткой логики для оценки рисков внедрения технологий искусственного интеллекта в IT-компаниях: систематический аналитический обзор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3024000"/>
            <a:ext cx="1111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555"/>
                </a:solidFill>
                <a:latin typeface="Roboto"/>
              </a:rPr>
              <a:t>Рослов Д. С. — Санкт-Петербург : ГУАП, 2026. — 16 с. (НИР магистра, кафедра № 5)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555"/>
                </a:solidFill>
                <a:latin typeface="Roboto"/>
              </a:rPr>
              <a:t>Объём: 22 927 знаков, 24 источника, 3 рисунка, 3 таблицы, PRISMA-обзор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960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F7F"/>
                </a:solidFill>
                <a:latin typeface="Roboto"/>
              </a:rPr>
              <a:t>ПЛАНИРУЕМЫЕ ВЫСТУПЛЕНИЯ И ПУБЛИКАЦИИ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284000"/>
            <a:ext cx="11328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Ежегодная научно-техническая конференция ГУАП — Санкт-Петербург, 2027 г.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Международная научно-практическая конференция «Инновационная экономика и менеджмент: методы и технологии» — Санкт-Петербург, 2027 г.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•  Публикации в изданиях из перечня ВАК и базы РИНЦ — 2026–2027 уч. 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60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000" cy="64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98000"/>
            <a:ext cx="11328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Roboto"/>
              </a:rPr>
              <a:t>Заключение и дальнейшие шаги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92000" cy="21600"/>
          </a:xfrm>
          <a:prstGeom prst="rect">
            <a:avLst/>
          </a:prstGeom>
          <a:solidFill>
            <a:srgbClr val="003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6588000"/>
            <a:ext cx="72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ГУАП • Кафедра № 5 • НИР,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0000" y="6588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5555"/>
                </a:solidFill>
                <a:latin typeface="Roboto"/>
              </a:rPr>
              <a:t>7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8102E"/>
                </a:solidFill>
                <a:latin typeface="Roboto"/>
              </a:rPr>
              <a:t>ОСНОВНЫЕ РЕЗУЛЬТАТЫ НИР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548000"/>
            <a:ext cx="55440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✓  Сформирован теоретический базис исследования.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✓  Предложена типология рисков ИИ из 6 категорий.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✓  Проанализирована нормативно-правовая база РФ и мира.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✓  Обосновано применение аппарата нечёткой логики и схемы «FMEA + Мамдани + центр тяжести».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✓  Сформулирована научно-практическая задача.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1A1A1A"/>
                </a:solidFill>
                <a:latin typeface="Roboto"/>
              </a:rPr>
              <a:t>✓  Подготовлена научная статья по обзору (16 с., 24 источника).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8000" y="1260000"/>
            <a:ext cx="5544000" cy="421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0" y="1368000"/>
            <a:ext cx="54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3F7F"/>
                </a:solidFill>
                <a:latin typeface="Roboto"/>
              </a:rPr>
              <a:t>ДАЛЬНЕЙШИЕ ШАГИ ПО ВКРМ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2000" y="1655999"/>
            <a:ext cx="52560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▸  Сент.–дек. 2026 г. — глава 2: ретроспективный анализ ИИ-проектов в IT-компаниях, выявление пробелов.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▸  Янв.–апр. 2027 г. — глава 3: разработка архитектуры СППР, лингвистических переменных, базы правил.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▸  Апр.–май 2027 г. — программная реализация СППР, верификация и валидация на ретроспективных данных, ТЭО.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▸  Май 2027 г. — оформление по ГОСТ, нормоконтроль, проверка на оригинальность.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Roboto"/>
              </a:rPr>
              <a:t>▸  Июнь 2027 г. — предзащита, защита ВКРМ.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