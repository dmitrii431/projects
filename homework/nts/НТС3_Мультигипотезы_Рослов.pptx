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МУЛЬТИГИПОТЕЗЫ ДЛЯ МОДЕЛИ ОЦЕНКИ РИСКОВ ВНЕДРЕНИЯ ТЕХНОЛОГИЙ ИСКУССТВЕННОГО ИНТЕЛЛЕКТА В IT-КОМПАНИИ НА ОСНОВЕ НЕЧЁТКОЙ ЛОГИКИ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110944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2E6FB7"/>
                </a:solidFill>
                <a:latin typeface="Bahnschrift Light"/>
              </a:rPr>
              <a:t>Феномен → гипотезы → количественные данные → код → подтверждение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0">
                <a:solidFill>
                  <a:srgbClr val="222B36"/>
                </a:solidFill>
                <a:latin typeface="Bahnschrift Light"/>
              </a:rPr>
              <a:t>Выполнил: Рослов Д. С., гр. М558М</a:t>
            </a:r>
          </a:p>
          <a:p>
            <a:pPr algn="r">
              <a:spcAft>
                <a:spcPts val="400"/>
              </a:spcAft>
            </a:pPr>
            <a:r>
              <a:rPr sz="1600" b="0">
                <a:solidFill>
                  <a:srgbClr val="222B36"/>
                </a:solidFill>
                <a:latin typeface="Bahnschrift Light"/>
              </a:rPr>
              <a:t>Санкт-Петербург,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ФЕНОМЕН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222B36"/>
                </a:solidFill>
                <a:latin typeface="Bahnschrift Light"/>
              </a:rPr>
              <a:t>IT-компании сами создают технологии ИИ, но </a:t>
            </a:r>
            <a:r>
              <a:rPr sz="1800" b="1">
                <a:solidFill>
                  <a:srgbClr val="222B36"/>
                </a:solidFill>
                <a:latin typeface="Bahnschrift Light"/>
              </a:rPr>
              <a:t>каждая третья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из них ИИ не использует, а </a:t>
            </a:r>
            <a:r>
              <a:rPr sz="1800" b="1">
                <a:solidFill>
                  <a:srgbClr val="222B36"/>
                </a:solidFill>
                <a:latin typeface="Bahnschrift Light"/>
              </a:rPr>
              <a:t>каждая девятая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рассматривала внедрение и </a:t>
            </a:r>
            <a:r>
              <a:rPr sz="1800" b="1">
                <a:solidFill>
                  <a:srgbClr val="222B36"/>
                </a:solidFill>
                <a:latin typeface="Bahnschrift Light"/>
              </a:rPr>
              <a:t>отказалась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. При этом в IT-секторе ИИ используют в 3,3 раза чаще, чем в экономике в целом, и доля растёт на 24 % в год.</a:t>
            </a:r>
          </a:p>
        </p:txBody>
      </p:sp>
      <p:pic>
        <p:nvPicPr>
          <p:cNvPr id="4" name="Picture 3" descr="fig_phenomen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65259"/>
            <a:ext cx="11094415" cy="42477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77777"/>
                </a:solidFill>
                <a:latin typeface="Bahnschrift Light"/>
              </a:rPr>
              <a:t>Источник: Eurostat, isoc_eb_ain2, NACE J62–J63, ЕС-27, 2021–2025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ФЕНОМЕН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55F6B"/>
                </a:solidFill>
                <a:latin typeface="Bahnschrift Light"/>
              </a:rPr>
              <a:t>границы и характеристика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2011680" cy="118872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Bahnschrift Light"/>
              </a:rPr>
              <a:t>Решение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Bahnschrift Light"/>
              </a:rPr>
              <a:t>о запуске 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1737360"/>
            <a:ext cx="2011680" cy="118872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Bahnschrift Light"/>
              </a:rPr>
              <a:t>Пилот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1737360"/>
            <a:ext cx="2011680" cy="118872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Bahnschrift Light"/>
              </a:rPr>
              <a:t>Барьеры: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Bahnschrift Light"/>
              </a:rPr>
              <a:t>данные, право,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Bahnschrift Light"/>
              </a:rPr>
              <a:t>компетенции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737360"/>
            <a:ext cx="2011680" cy="1188720"/>
          </a:xfrm>
          <a:prstGeom prst="rect">
            <a:avLst/>
          </a:prstGeom>
          <a:solidFill>
            <a:srgbClr val="B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Bahnschrift Light"/>
              </a:rPr>
              <a:t>Отказ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Bahnschrift Light"/>
              </a:rPr>
              <a:t>(11 % IT-компаний)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1737360"/>
            <a:ext cx="2011680" cy="1188720"/>
          </a:xfrm>
          <a:prstGeom prst="rect">
            <a:avLst/>
          </a:prstGeom>
          <a:solidFill>
            <a:srgbClr val="3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Bahnschrift Light"/>
              </a:rPr>
              <a:t>Внедрение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Bahnschrift Light"/>
              </a:rPr>
              <a:t>(66 %)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55F6B"/>
                </a:solidFill>
                <a:latin typeface="Bahnschrift Light"/>
              </a:rPr>
              <a:t>тело феномена — отрезок от решения о запуске до отказа: именно здесь работает модель оценки рисков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B36"/>
                </a:solidFill>
                <a:latin typeface="Bahnschrift Light"/>
              </a:rPr>
              <a:t>Границы феномена: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22B36"/>
                </a:solidFill>
                <a:latin typeface="Bahnschrift Light"/>
              </a:rPr>
              <a:t>• отрасль — IT-компании (NACE J62–J63: разработка ПО, IT-консалтинг, информационные услуги);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22B36"/>
                </a:solidFill>
                <a:latin typeface="Bahnschrift Light"/>
              </a:rPr>
              <a:t>• период — 2021–2025 гг., когда генеративный ИИ стал массовым;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22B36"/>
                </a:solidFill>
                <a:latin typeface="Bahnschrift Light"/>
              </a:rPr>
              <a:t>• объект наблюдения — предприятия от 10 занятых, которые рассматривали ИИ, но не внедрили его;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22B36"/>
                </a:solidFill>
                <a:latin typeface="Bahnschrift Light"/>
              </a:rPr>
              <a:t>• размер компании усиливает феномен: ИИ используют 17 % малых (10–49 чел.) и 55 % крупных (250+) предприятий.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B36"/>
                </a:solidFill>
                <a:latin typeface="Bahnschrift Light"/>
              </a:rPr>
              <a:t>Что тут происходит?</a:t>
            </a:r>
            <a:r>
              <a:rPr sz="1700" b="0">
                <a:solidFill>
                  <a:srgbClr val="222B36"/>
                </a:solidFill>
                <a:latin typeface="Bahnschrift Light"/>
              </a:rPr>
              <a:t> Почему отказываются те, у кого есть и технологии, и специалисты?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ГИПОТЕЗА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55F6B"/>
                </a:solidFill>
                <a:latin typeface="Bahnschrift Light"/>
              </a:rPr>
              <a:t>это всё технологии…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B36"/>
                </a:solidFill>
                <a:latin typeface="Bahnschrift Light"/>
              </a:rPr>
              <a:t>1.1 ИИ бесполезен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= доказательство =&gt; модели галлюцинируют, результат нестабилен, выгода для бизнеса не видна, «хайп» не подтверждается практикой.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B36"/>
                </a:solidFill>
                <a:latin typeface="Bahnschrift Light"/>
              </a:rPr>
              <a:t>1.2 ИИ несовместим с ИС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= доказательство =&gt; унаследованные системы, нет API и MLOps-инфраструктуры, интеграция дороже самой модели.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B36"/>
                </a:solidFill>
                <a:latin typeface="Bahnschrift Light"/>
              </a:rPr>
              <a:t>1.3 Нет данных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= доказательство =&gt; данные разрознены, не размечены, непредставительны, обучать и проверять модель не на чем.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E6FB7"/>
                </a:solidFill>
                <a:latin typeface="Bahnschrift Light"/>
              </a:rPr>
              <a:t>Проверка: если Г1 верна, технологические барьеры должны быть самыми частыми причинами отказа и чаще встречаться там, где ИИ используют меньше.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E6FB7"/>
                </a:solidFill>
                <a:latin typeface="Bahnschrift Light"/>
              </a:rPr>
              <a:t>Связь с моделью: x₁ — качество данных, x₂ — новизна и сложность ИИ-решения.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ГИПОТЕЗА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55F6B"/>
                </a:solidFill>
                <a:latin typeface="Bahnschrift Light"/>
              </a:rPr>
              <a:t>это всё люди и среда…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B36"/>
                </a:solidFill>
                <a:latin typeface="Bahnschrift Light"/>
              </a:rPr>
              <a:t>2.1 Компетенции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= характеристика =&gt; нет специалистов на стыке ИИ, данных и предметной области; дефицит кадров на рынке.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B36"/>
                </a:solidFill>
                <a:latin typeface="Bahnschrift Light"/>
              </a:rPr>
              <a:t>2.2 Стоимость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= характеристика =&gt; вычисления, лицензии, специалисты дорогие, эффект неочевиден — бюджет не выделяют.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B36"/>
                </a:solidFill>
                <a:latin typeface="Bahnschrift Light"/>
              </a:rPr>
              <a:t>2.3 Правовая неясность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= характеристика =&gt; неясно, кто отвечает за ошибку ИИ; регулирование (AI Act, 152-ФЗ) меняется быстрее проектов.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B36"/>
                </a:solidFill>
                <a:latin typeface="Bahnschrift Light"/>
              </a:rPr>
              <a:t>2.4 Защита персональных данных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= характеристика =&gt; риск утечки данных клиентов через модели и облачные сервисы.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B36"/>
                </a:solidFill>
                <a:latin typeface="Bahnschrift Light"/>
              </a:rPr>
              <a:t>2.5 Этика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= характеристика =&gt; опасения предвзятости, репутационные риски.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E6FB7"/>
                </a:solidFill>
                <a:latin typeface="Bahnschrift Light"/>
              </a:rPr>
              <a:t>Связь с моделью: x₃ — компетентность команды, x₄ — регуляторная и этическая чувствительность, x₆ — организационная готовность.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ГИПОТЕЗА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55F6B"/>
                </a:solidFill>
                <a:latin typeface="Bahnschrift Light"/>
              </a:rPr>
              <a:t>профиль рисков смещается от технологий к регуляторике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B36"/>
                </a:solidFill>
                <a:latin typeface="Bahnschrift Light"/>
              </a:rPr>
              <a:t>3.1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С развитием облачных ИИ-сервисов технологические барьеры (несовместимость, данные) ослабевают.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B36"/>
                </a:solidFill>
                <a:latin typeface="Bahnschrift Light"/>
              </a:rPr>
              <a:t>3.2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Одновременно растут регуляторные барьеры: правовая неясность и защита персональных данных (AI Act принят в 2024 г.).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B36"/>
                </a:solidFill>
                <a:latin typeface="Bahnschrift Light"/>
              </a:rPr>
              <a:t>3.3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Модель, настроенная на «технические» риски 2023 года, устаревает — веса факторов нужно регулярно пересматривать.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22B36"/>
                </a:solidFill>
                <a:latin typeface="Bahnschrift Light"/>
              </a:rPr>
              <a:t>3.4</a:t>
            </a:r>
            <a:r>
              <a:rPr sz="1800" b="0">
                <a:solidFill>
                  <a:srgbClr val="222B36"/>
                </a:solidFill>
                <a:latin typeface="Bahnschrift Light"/>
              </a:rPr>
              <a:t> Следствие для СППР: фактору x₄ (регуляторная чувствительность) — больший вес в базе правил; калибровка функций принадлежности — ежегодно.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E6FB7"/>
                </a:solidFill>
                <a:latin typeface="Bahnschrift Light"/>
              </a:rPr>
              <a:t>Проверка: сравнение долей отказавшихся по каждой причине в 2023 и 2025 гг. по странам (парный критерий Уилкоксона).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ГИПОТЕЗА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55F6B"/>
                </a:solidFill>
                <a:latin typeface="Bahnschrift Light"/>
              </a:rPr>
              <a:t>если нельзя понять, какой барьер главный, — оцени все сразу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691640" cy="73152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Bahnschrift Light"/>
              </a:rPr>
              <a:t>x₁ данные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463040"/>
            <a:ext cx="1691640" cy="73152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Bahnschrift Light"/>
              </a:rPr>
              <a:t>x₂ технология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79" y="1463040"/>
            <a:ext cx="1691640" cy="73152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Bahnschrift Light"/>
              </a:rPr>
              <a:t>x₃ компетенции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199" y="1463040"/>
            <a:ext cx="1691640" cy="73152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Bahnschrift Light"/>
              </a:rPr>
              <a:t>x₄ регуляторика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19" y="1463040"/>
            <a:ext cx="1691640" cy="73152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Bahnschrift Light"/>
              </a:rPr>
              <a:t>x₅ безопасность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9921240" y="1463040"/>
            <a:ext cx="1691640" cy="73152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  <a:latin typeface="Bahnschrift Light"/>
              </a:rPr>
              <a:t>x₆ организация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651760"/>
            <a:ext cx="5029200" cy="914400"/>
          </a:xfrm>
          <a:prstGeom prst="rect">
            <a:avLst/>
          </a:prstGeom>
          <a:solidFill>
            <a:srgbClr val="3E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FFFFFF"/>
                </a:solidFill>
                <a:latin typeface="Bahnschrift Light"/>
              </a:rPr>
              <a:t>Нечёткий вывод Мамдани → интегральный риск R ∈ [0; 100]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109441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B36"/>
                </a:solidFill>
                <a:latin typeface="Bahnschrift Light"/>
              </a:rPr>
              <a:t>4.1</a:t>
            </a:r>
            <a:r>
              <a:rPr sz="1700" b="0">
                <a:solidFill>
                  <a:srgbClr val="222B36"/>
                </a:solidFill>
                <a:latin typeface="Bahnschrift Light"/>
              </a:rPr>
              <a:t> Ни один барьер в отдельности не объясняет, внедрит ли компания ИИ: связь каждого барьера с использованием ИИ слабая.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B36"/>
                </a:solidFill>
                <a:latin typeface="Bahnschrift Light"/>
              </a:rPr>
              <a:t>4.2</a:t>
            </a:r>
            <a:r>
              <a:rPr sz="1700" b="0">
                <a:solidFill>
                  <a:srgbClr val="222B36"/>
                </a:solidFill>
                <a:latin typeface="Bahnschrift Light"/>
              </a:rPr>
              <a:t> Барьеры слабо связаны между собой — это разные, независимые факторы, их нельзя свести к одному показателю.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B36"/>
                </a:solidFill>
                <a:latin typeface="Bahnschrift Light"/>
              </a:rPr>
              <a:t>4.3</a:t>
            </a:r>
            <a:r>
              <a:rPr sz="1700" b="0">
                <a:solidFill>
                  <a:srgbClr val="222B36"/>
                </a:solidFill>
                <a:latin typeface="Bahnschrift Light"/>
              </a:rPr>
              <a:t> Значит, решение о запуске ИИ-проекта нужно принимать по интегральной оценке всех факторов одновременно — это и делает СППР на нечёткой логике.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E6FB7"/>
                </a:solidFill>
                <a:latin typeface="Bahnschrift Light"/>
              </a:rPr>
              <a:t>Проверка: корреляции Спирмена «барьер — использование ИИ» и «барьер — барьер» по странам.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КОЛИЧЕСТВЕННЫЕ ДАННЫЕ ДЛЯ ПРОВЕРКИ ГИПОТЕЗ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566160"/>
                <a:gridCol w="548640"/>
                <a:gridCol w="1188720"/>
                <a:gridCol w="1463040"/>
                <a:gridCol w="192024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ahnschrift Light"/>
                        </a:rPr>
                        <a:t>Показатель Eurostat</a:t>
                      </a:r>
                    </a:p>
                  </a:txBody>
                  <a:tcPr marT="36576" marB="36576"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ahnschrift Light"/>
                        </a:rPr>
                        <a:t>Что измеряет</a:t>
                      </a:r>
                    </a:p>
                  </a:txBody>
                  <a:tcPr marT="36576" marB="36576"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ahnschrift Light"/>
                        </a:rPr>
                        <a:t>Ед.</a:t>
                      </a:r>
                    </a:p>
                  </a:txBody>
                  <a:tcPr marT="36576" marB="36576"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ahnschrift Light"/>
                        </a:rPr>
                        <a:t>Годы</a:t>
                      </a:r>
                    </a:p>
                  </a:txBody>
                  <a:tcPr marT="36576" marB="36576"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ahnschrift Light"/>
                        </a:rPr>
                        <a:t>Гипотеза</a:t>
                      </a:r>
                    </a:p>
                  </a:txBody>
                  <a:tcPr marT="36576" marB="36576"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ahnschrift Light"/>
                        </a:rPr>
                        <a:t>Фактор модели</a:t>
                      </a:r>
                    </a:p>
                  </a:txBody>
                  <a:tcPr marT="36576" marB="36576">
                    <a:solidFill>
                      <a:srgbClr val="2E6FB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E_AI_TANY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Предприятия, использующие ИИ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%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2021–2025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Феномен, Г4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R (исход)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E_AI_EC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Рассматривали ИИ, но не используют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%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2023–2025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Феномен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—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E_AI_BNU / BINC / BDDT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Отказ: бесполезность / несовместимость / данные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%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2023–2025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Г1, Г3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x₁, x₂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E_AI_BLE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Отказ: нет компетенций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%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2023–2025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Г2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x₃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E_AI_BCST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Отказ: высокая стоимость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%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2023–2025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Г2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x₆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E_AI_BLEG / BCDP / BEC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Отказ: право / ПДн / этика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%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2023–2025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Г2, Г3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6"/>
                          </a:solidFill>
                          <a:latin typeface="Bahnschrift Light"/>
                        </a:rPr>
                        <a:t>x₄, x₅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46320"/>
            <a:ext cx="1109441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B36"/>
                </a:solidFill>
                <a:latin typeface="Bahnschrift Light"/>
              </a:rPr>
              <a:t>Разрезы: IT-сектор (NACE J62–J63) и вся экономика; ЕС-27 и 18–30 стран; размер предприятия (10–49, 50–249, 250+).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B36"/>
                </a:solidFill>
                <a:latin typeface="Bahnschrift Light"/>
              </a:rPr>
              <a:t>Доли причин отказа рассчитаны от числа предприятий, которые рассматривали ИИ, но не внедрили (единица PC_ENT_AI_EC).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B36"/>
                </a:solidFill>
                <a:latin typeface="Bahnschrift Light"/>
              </a:rPr>
              <a:t>Всего загружено 1 625 наблюдений из двух наборов данных через открытый API Eurostat.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КОД: ЗАГРУЗКА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55F6B"/>
                </a:solidFill>
                <a:latin typeface="Bahnschrift Light"/>
              </a:rPr>
              <a:t>fetch_data.py — API Eurostat, формат JSON-stat → CSV</a:t>
            </a:r>
          </a:p>
        </p:txBody>
      </p:sp>
      <p:pic>
        <p:nvPicPr>
          <p:cNvPr id="4" name="Picture 3" descr="code_f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195" y="1371600"/>
            <a:ext cx="826930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КОД И РЕЗУЛЬТАТ: ГИПОТЕЗЫ 1 И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55F6B"/>
                </a:solidFill>
                <a:latin typeface="Bahnschrift Light"/>
              </a:rPr>
              <a:t>hypotheses.py — критерий Уилкоксона и корреляция Спирмена</a:t>
            </a:r>
          </a:p>
        </p:txBody>
      </p:sp>
      <p:pic>
        <p:nvPicPr>
          <p:cNvPr id="4" name="Picture 3" descr="code_g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94786"/>
            <a:ext cx="5669280" cy="3257147"/>
          </a:xfrm>
          <a:prstGeom prst="rect">
            <a:avLst/>
          </a:prstGeom>
        </p:spPr>
      </p:pic>
      <p:pic>
        <p:nvPicPr>
          <p:cNvPr id="5" name="Picture 4" descr="out_g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31274"/>
            <a:ext cx="5806440" cy="39841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ГИПОТЕЗЫ 1 И 2: РЕЗУЛЬТАТ</a:t>
            </a:r>
          </a:p>
        </p:txBody>
      </p:sp>
      <p:pic>
        <p:nvPicPr>
          <p:cNvPr id="3" name="Picture 2" descr="fig_barr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79171"/>
            <a:ext cx="7498079" cy="34082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097280"/>
            <a:ext cx="393192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03A3A"/>
                </a:solidFill>
                <a:latin typeface="Bahnschrift Light"/>
              </a:rPr>
              <a:t>Г1 «технологии» — отвергнута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Bahnschrift Light"/>
              </a:rPr>
              <a:t>Технологические причины в среднем называют 27,8 % отказавшихся, «бесполезность» ИИ — лишь 16,6 %.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3E9E52"/>
                </a:solidFill>
                <a:latin typeface="Bahnschrift Light"/>
              </a:rPr>
              <a:t>Г2 «люди и среда» — подтверждена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Bahnschrift Light"/>
              </a:rPr>
              <a:t>Людские и средовые причины — 39,0 %, разница значима: критерий Уилкоксона, n = 18, p = 0,0014.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Bahnschrift Light"/>
              </a:rPr>
              <a:t>Лидеры: защита ПДн 53,2 %, правовая неясность 52,5 %, компетенции 52,3 %.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B36"/>
                </a:solidFill>
                <a:latin typeface="Bahnschrift Light"/>
              </a:rPr>
              <a:t>Единственный барьер, значимо связанный с уровнем использования ИИ по странам, — стоимость (rs = −0,54; p = 0,022).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0"/>
            <a:ext cx="74980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77777"/>
                </a:solidFill>
                <a:latin typeface="Bahnschrift Light"/>
              </a:rPr>
              <a:t>Серые столбцы — 2023 г., цветные — 2025 г. Источник: Eurostat isoc_eb_ain2.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ГИПОТЕЗА 3: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601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55F6B"/>
                </a:solidFill>
                <a:latin typeface="Bahnschrift Light"/>
              </a:rPr>
              <a:t>парный критерий Уилкоксона, 2023 → 2025, n = 17 стран</a:t>
            </a:r>
          </a:p>
        </p:txBody>
      </p:sp>
      <p:pic>
        <p:nvPicPr>
          <p:cNvPr id="4" name="Picture 3" descr="fig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657" y="1280160"/>
            <a:ext cx="10536381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937760"/>
            <a:ext cx="1109441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E9E52"/>
                </a:solidFill>
                <a:latin typeface="Bahnschrift Light"/>
              </a:rPr>
              <a:t>Подтверждена: правовая неясность +14,4 п. п. (p = 0,017), защита ПДн +12,6 п. п. (p = 0,002) — рост значим.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B36"/>
                </a:solidFill>
                <a:latin typeface="Bahnschrift Light"/>
              </a:rPr>
              <a:t>Несовместимость и проблемы с данными значимо не изменились (p = 0,78 и 0,85): технологические барьеры не растут, а регуляторные — растут.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E6FB7"/>
                </a:solidFill>
                <a:latin typeface="Bahnschrift Light"/>
              </a:rPr>
              <a:t>Вывод для модели: вес фактора x₄ увеличить, базу правил перекалибровывать ежегодно.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ГИПОТЕЗА 4: РЕЗУЛЬТАТ</a:t>
            </a:r>
          </a:p>
        </p:txBody>
      </p:sp>
      <p:pic>
        <p:nvPicPr>
          <p:cNvPr id="3" name="Picture 2" descr="fig_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947" y="914400"/>
            <a:ext cx="9829800" cy="39319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937760"/>
            <a:ext cx="1109441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E9E52"/>
                </a:solidFill>
                <a:latin typeface="Bahnschrift Light"/>
              </a:rPr>
              <a:t>Подтверждена: сильнейший одиночный барьер (стоимость) объясняет лишь 29 % вариации использования ИИ (rs² = 0,29); остальные семь связей не значимы.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B36"/>
                </a:solidFill>
                <a:latin typeface="Bahnschrift Light"/>
              </a:rPr>
              <a:t>Барьеры между собой почти независимы: средний rs = 0,09, значимо связаны лишь 2 пары из 28.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E6FB7"/>
                </a:solidFill>
                <a:latin typeface="Bahnschrift Light"/>
              </a:rPr>
              <a:t>Вывод: решение нужно принимать по интегральной оценке всех факторов — нечёткая модель с входами x₁…x₆ обоснована.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КОД И РЕЗУЛЬТАТ: ГИПОТЕЗЫ 3 И 4</a:t>
            </a:r>
          </a:p>
        </p:txBody>
      </p:sp>
      <p:pic>
        <p:nvPicPr>
          <p:cNvPr id="3" name="Picture 2" descr="code_g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33056"/>
            <a:ext cx="5852160" cy="3723408"/>
          </a:xfrm>
          <a:prstGeom prst="rect">
            <a:avLst/>
          </a:prstGeom>
        </p:spPr>
      </p:pic>
      <p:pic>
        <p:nvPicPr>
          <p:cNvPr id="4" name="Picture 3" descr="out_g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79454"/>
            <a:ext cx="5715000" cy="1795972"/>
          </a:xfrm>
          <a:prstGeom prst="rect">
            <a:avLst/>
          </a:prstGeom>
        </p:spPr>
      </p:pic>
      <p:pic>
        <p:nvPicPr>
          <p:cNvPr id="5" name="Picture 4" descr="out_ph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374061"/>
            <a:ext cx="5715000" cy="19503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ГИПОТЕЗА + СТАТИСТИКА + ФАКТЫ = ПОДТВЕРЖДЕНИЕ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916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4206240"/>
                <a:gridCol w="1581912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ahnschrift Light"/>
                        </a:rPr>
                        <a:t>Гипотеза</a:t>
                      </a:r>
                    </a:p>
                  </a:txBody>
                  <a:tcPr marT="36576" marB="36576"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ahnschrift Light"/>
                        </a:rPr>
                        <a:t>Статистика</a:t>
                      </a:r>
                    </a:p>
                  </a:txBody>
                  <a:tcPr marT="36576" marB="36576"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ahnschrift Light"/>
                        </a:rPr>
                        <a:t>Факт</a:t>
                      </a:r>
                    </a:p>
                  </a:txBody>
                  <a:tcPr marT="36576" marB="36576">
                    <a:solidFill>
                      <a:srgbClr val="2E6F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ahnschrift Light"/>
                        </a:rPr>
                        <a:t>Вывод</a:t>
                      </a:r>
                    </a:p>
                  </a:txBody>
                  <a:tcPr marT="36576" marB="36576">
                    <a:solidFill>
                      <a:srgbClr val="2E6FB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Г1 «это всё технологии»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Доли причин отказа, Спирмен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Технологические причины 27,8 %, связь с использованием не значима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Отвергнута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Г2 «это всё люди и среда»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Уилкоксон, n = 18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39,0 % против 27,8 %, p = 0,0014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Подтверждена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Г3 «сдвиг к регуляторике»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Уилкоксон парный, n = 17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Право +14,4 п. п. (p = 0,017), ПДн +12,6 п. п. (p = 0,002)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Подтверждена</a:t>
                      </a:r>
                    </a:p>
                  </a:txBody>
                  <a:tcPr marT="36576" marB="36576">
                    <a:solidFill>
                      <a:srgbClr val="F3F6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Г4 «оцени все сразу»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Корреляции Спирмена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max rs² = 0,29; средний rs между барьерами 0,09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6"/>
                          </a:solidFill>
                          <a:latin typeface="Bahnschrift Light"/>
                        </a:rPr>
                        <a:t>Подтверждена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11094415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Bahnschrift Light"/>
              </a:rPr>
              <a:t>Следствия для модели СППР: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B36"/>
                </a:solidFill>
                <a:latin typeface="Bahnschrift Light"/>
              </a:rPr>
              <a:t>• входы x₃ (компетенции) и x₄ (регуляторика и ПДн) — ключевые, им больший вес в базе продукционных правил;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B36"/>
                </a:solidFill>
                <a:latin typeface="Bahnschrift Light"/>
              </a:rPr>
              <a:t>• в модель добавляется экономический фактор (стоимость) — единственный значимо связанный с отказом по странам;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B36"/>
                </a:solidFill>
                <a:latin typeface="Bahnschrift Light"/>
              </a:rPr>
              <a:t>• интегральная нечёткая оценка всех факторов обоснована: ни один фактор в отдельности не решает.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222B36"/>
                </a:solidFill>
                <a:latin typeface="Bahnschrift Light"/>
              </a:rPr>
              <a:t>РЕЛЕВАНТНОСТЬ ДАННЫХ И ИСТОЧНИКИ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5760720" cy="5669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B36"/>
                </a:solidFill>
                <a:latin typeface="Bahnschrift Light"/>
              </a:rPr>
              <a:t>Почему данным можно доверять: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Bahnschrift Light"/>
              </a:rPr>
              <a:t>• официальная статистика ЕС: ежегодное обследование использования ИКТ предприятиями по единой методологии во всех странах;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Bahnschrift Light"/>
              </a:rPr>
              <a:t>• отраслевой срез совпадает с объектом модели — IT-компании (NACE J62–J63);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Bahnschrift Light"/>
              </a:rPr>
              <a:t>• свежие данные: 2021–2025 гг., обновление Eurostat от 15.06.2026;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Bahnschrift Light"/>
              </a:rPr>
              <a:t>• данные получены кодом через открытый API — расчёт воспроизводим.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B36"/>
                </a:solidFill>
                <a:latin typeface="Bahnschrift Light"/>
              </a:rPr>
              <a:t>Ограничения: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Bahnschrift Light"/>
              </a:rPr>
              <a:t>• это данные ЕС, а не России; аналогичные показатели по России публикует ВШЭ в сборнике «Индикаторы цифровой экономики»;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Bahnschrift Light"/>
              </a:rPr>
              <a:t>• анализ по странам — агрегаты, n = 17–18 стран с полными данными;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B36"/>
                </a:solidFill>
                <a:latin typeface="Bahnschrift Light"/>
              </a:rPr>
              <a:t>• причины отказа указывают только предприятия, рассматривавшие ИИ.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005840"/>
            <a:ext cx="5577840" cy="5669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B36"/>
                </a:solidFill>
                <a:latin typeface="Bahnschrift Light"/>
              </a:rPr>
              <a:t>Источники: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Bahnschrift Light"/>
              </a:rPr>
              <a:t>1. Eurostat. Artificial intelligence by NACE Rev. 2 activity (isoc_eb_ain2). URL: https://ec.europa.eu/eurostat/databrowser/view/isoc_eb_ain2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Bahnschrift Light"/>
              </a:rPr>
              <a:t>2. Eurostat. Artificial intelligence by size class of enterprise (isoc_eb_ai). URL: https://ec.europa.eu/eurostat/databrowser/view/isoc_eb_ai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Bahnschrift Light"/>
              </a:rPr>
              <a:t>3. Eurostat. Statistics API (JSON-stat 2.0). URL: https://ec.europa.eu/eurostat/web/user-guides/data-browser/api-data-access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Bahnschrift Light"/>
              </a:rPr>
              <a:t>4. НИУ ВШЭ. Статистические сборники. URL: https://www.hse.ru/primarydata/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Bahnschrift Light"/>
              </a:rPr>
              <a:t>5. Google Dataset Search. URL: https://datasetsearch.research.google.com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Bahnschrift Light"/>
              </a:rPr>
              <a:t>6. Regulation (EU) 2024/1689 (Artificial Intelligence Act).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B36"/>
                </a:solidFill>
                <a:latin typeface="Bahnschrift Light"/>
              </a:rPr>
              <a:t>Код: fetch_data.py, hypotheses.py, figures.py (Python 3, SciPy, NumPy, Matplotlib).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