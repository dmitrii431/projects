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28" r:id="rId3"/>
    <p:sldMasterId id="2147483833" r:id="rId4"/>
  </p:sldMasterIdLst>
  <p:notesMasterIdLst>
    <p:notesMasterId r:id="rId34"/>
  </p:notesMasterIdLst>
  <p:handoutMasterIdLst>
    <p:handoutMasterId r:id="rId35"/>
  </p:handout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</p:sldIdLst>
  <p:sldSz cx="12192000" cy="6858000"/>
  <p:notesSz cx="6858000" cy="9144000"/>
  <p:embeddedFontLst>
    <p:embeddedFont>
      <p:font typeface="Calibri" panose="020F0502020204030204" pitchFamily="34" charset="0"/>
      <p:regular r:id="rId36"/>
      <p:bold r:id="rId37"/>
      <p:italic r:id="rId38"/>
      <p:boldItalic r:id="rId3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уководство" id="{E6ECDA77-1B8E-0E4F-8DDA-529EB99512FD}">
          <p14:sldIdLst>
            <p14:sldId id="1171"/>
            <p14:sldId id="1126"/>
            <p14:sldId id="1173"/>
            <p14:sldId id="1097"/>
            <p14:sldId id="1172"/>
            <p14:sldId id="1102"/>
            <p14:sldId id="1185"/>
          </p14:sldIdLst>
        </p14:section>
        <p14:section name="Пример презентации" id="{09F8C32E-5747-4822-BAD0-340E7A748DE7}">
          <p14:sldIdLst>
            <p14:sldId id="1174"/>
            <p14:sldId id="1170"/>
            <p14:sldId id="1180"/>
            <p14:sldId id="1181"/>
            <p14:sldId id="1179"/>
            <p14:sldId id="1177"/>
            <p14:sldId id="1186"/>
            <p14:sldId id="1187"/>
            <p14:sldId id="1188"/>
            <p14:sldId id="1194"/>
            <p14:sldId id="1195"/>
            <p14:sldId id="1189"/>
            <p14:sldId id="1198"/>
            <p14:sldId id="1129"/>
            <p14:sldId id="1119"/>
          </p14:sldIdLst>
        </p14:section>
        <p14:section name="Дополнительные материалы" id="{62AE7809-B62A-4B2F-9EA4-7E7E0961CF08}">
          <p14:sldIdLst>
            <p14:sldId id="1175"/>
            <p14:sldId id="1190"/>
            <p14:sldId id="1191"/>
            <p14:sldId id="1120"/>
          </p14:sldIdLst>
        </p14:section>
        <p14:section name="Макеты для завершения презентации" id="{7BDEF82D-D64F-4A14-9B34-FEADAC1724BD}">
          <p14:sldIdLst>
            <p14:sldId id="1192"/>
            <p14:sldId id="1193"/>
            <p14:sldId id="11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0520" autoAdjust="0"/>
  </p:normalViewPr>
  <p:slideViewPr>
    <p:cSldViewPr snapToGrid="0" snapToObjects="1">
      <p:cViewPr varScale="1">
        <p:scale>
          <a:sx n="163" d="100"/>
          <a:sy n="163" d="100"/>
        </p:scale>
        <p:origin x="138" y="1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commentAuthors" Target="commentAuthors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t>16.06.2023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341438"/>
            <a:ext cx="7475537" cy="5040312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72128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блок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819276"/>
            <a:ext cx="7475537" cy="45624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7475536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56156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04B2F2CF-1F6E-4737-8380-2ACFF853EA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5184775" cy="5040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484797F9-7539-4EA9-A418-767254923B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363" y="1341438"/>
            <a:ext cx="5184775" cy="5040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54276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блока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828800"/>
            <a:ext cx="5184776" cy="455294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8" name="Объект 6">
            <a:extLst>
              <a:ext uri="{FF2B5EF4-FFF2-40B4-BE49-F238E27FC236}">
                <a16:creationId xmlns:a16="http://schemas.microsoft.com/office/drawing/2014/main" id="{9A78599F-D79E-4281-BEF4-7422CEEA54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66194" y="1828800"/>
            <a:ext cx="5184776" cy="455294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42A86BF5-AF69-48DE-AFDD-C1FAD65027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6194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1124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2.xml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Relationship Id="rId6" Type="http://schemas.openxmlformats.org/officeDocument/2006/relationships/image" Target="../media/image4.png"/><Relationship Id="rId7" Type="http://schemas.openxmlformats.org/officeDocument/2006/relationships/image" Target="../media/image5.sv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theme" Target="../theme/theme4.xml"/><Relationship Id="rId8" Type="http://schemas.openxmlformats.org/officeDocument/2006/relationships/image" Target="../media/image4.png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BA297-C05B-4A1B-BC54-4DA26B4C6721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85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44" r:id="rId2"/>
    <p:sldLayoutId id="2147483832" r:id="rId3"/>
    <p:sldLayoutId id="2147483845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Разработка промышленного
робота-манипулятора
для сборочного производства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1400" b="0"/>
              <a:t>Выполнил: студент группы М558М  Рослов Д.С.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400" b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Введение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400"/>
              <a:t>Рынок промышленных роботов России: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• 7,86 млрд руб. (+14% в 2025)</a:t>
            </a:r>
          </a:p>
          <a:p>
            <a:pPr>
              <a:spcAft>
                <a:spcPts val="300"/>
              </a:spcAft>
            </a:pPr>
            <a:r>
              <a:rPr sz="1400"/>
              <a:t>• 40 роботов / 10 000 работников</a:t>
            </a:r>
          </a:p>
          <a:p>
            <a:pPr>
              <a:spcAft>
                <a:spcPts val="300"/>
              </a:spcAft>
            </a:pPr>
            <a:r>
              <a:rPr sz="1400"/>
              <a:t>• Цель — топ-25 к 2030 г.</a:t>
            </a:r>
          </a:p>
          <a:p>
            <a:pPr>
              <a:spcAft>
                <a:spcPts val="300"/>
              </a:spcAft>
            </a:pPr>
            <a:r>
              <a:rPr sz="1400"/>
              <a:t>• ~1000 промроботов/год в РФ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Объект разработки:</a:t>
            </a:r>
          </a:p>
          <a:p>
            <a:pPr>
              <a:spcAft>
                <a:spcPts val="300"/>
              </a:spcAft>
            </a:pPr>
            <a:r>
              <a:rPr sz="1400"/>
              <a:t>6-осевой робот-манипулятор</a:t>
            </a:r>
          </a:p>
          <a:p>
            <a:pPr>
              <a:spcAft>
                <a:spcPts val="300"/>
              </a:spcAft>
            </a:pPr>
            <a:r>
              <a:rPr sz="1400"/>
              <a:t>для сборочного производства</a:t>
            </a:r>
          </a:p>
          <a:p>
            <a:pPr>
              <a:spcAft>
                <a:spcPts val="300"/>
              </a:spcAft>
            </a:pPr>
            <a:r>
              <a:rPr sz="1400"/>
              <a:t>(класс FANUC M-20iD/25)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fanuc_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440000"/>
            <a:ext cx="4680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1. Формирование облика продукта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400"/>
              <a:t>Назначение: автоматизация сборки</a:t>
            </a:r>
          </a:p>
          <a:p>
            <a:pPr>
              <a:spcAft>
                <a:spcPts val="300"/>
              </a:spcAft>
            </a:pPr>
            <a:r>
              <a:rPr sz="1400"/>
              <a:t>(установка, завинчивание, герметики)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Целевая аудитория:</a:t>
            </a:r>
          </a:p>
          <a:p>
            <a:pPr>
              <a:spcAft>
                <a:spcPts val="300"/>
              </a:spcAft>
            </a:pPr>
            <a:r>
              <a:rPr sz="1400"/>
              <a:t>авто- и приборостроение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Ожидания стейкхолдеров:</a:t>
            </a:r>
          </a:p>
          <a:p>
            <a:pPr>
              <a:spcAft>
                <a:spcPts val="300"/>
              </a:spcAft>
            </a:pPr>
            <a:r>
              <a:rPr sz="1400"/>
              <a:t>• Простота переналадки</a:t>
            </a:r>
          </a:p>
          <a:p>
            <a:pPr>
              <a:spcAft>
                <a:spcPts val="300"/>
              </a:spcAft>
            </a:pPr>
            <a:r>
              <a:rPr sz="1400"/>
              <a:t>• +30–50% производительность</a:t>
            </a:r>
          </a:p>
          <a:p>
            <a:pPr>
              <a:spcAft>
                <a:spcPts val="300"/>
              </a:spcAft>
            </a:pPr>
            <a:r>
              <a:rPr sz="1400"/>
              <a:t>• MTBF ≥ 60 000 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400"/>
              <a:t>Характеристики: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• 6 осей</a:t>
            </a:r>
          </a:p>
          <a:p>
            <a:pPr>
              <a:spcAft>
                <a:spcPts val="300"/>
              </a:spcAft>
            </a:pPr>
            <a:r>
              <a:rPr sz="1400"/>
              <a:t>• Грузоподъёмность: 25 кг</a:t>
            </a:r>
          </a:p>
          <a:p>
            <a:pPr>
              <a:spcAft>
                <a:spcPts val="300"/>
              </a:spcAft>
            </a:pPr>
            <a:r>
              <a:rPr sz="1400"/>
              <a:t>• Радиус: 1831 мм</a:t>
            </a:r>
          </a:p>
          <a:p>
            <a:pPr>
              <a:spcAft>
                <a:spcPts val="300"/>
              </a:spcAft>
            </a:pPr>
            <a:r>
              <a:rPr sz="1400"/>
              <a:t>• Повторяемость: ±0,02 мм</a:t>
            </a:r>
          </a:p>
          <a:p>
            <a:pPr>
              <a:spcAft>
                <a:spcPts val="300"/>
              </a:spcAft>
            </a:pPr>
            <a:r>
              <a:rPr sz="1400"/>
              <a:t>• Скорость J6: 720°/с</a:t>
            </a:r>
          </a:p>
          <a:p>
            <a:pPr>
              <a:spcAft>
                <a:spcPts val="300"/>
              </a:spcAft>
            </a:pPr>
            <a:r>
              <a:rPr sz="1400"/>
              <a:t>• Масса: 250 кг</a:t>
            </a:r>
          </a:p>
          <a:p>
            <a:pPr>
              <a:spcAft>
                <a:spcPts val="300"/>
              </a:spcAft>
            </a:pPr>
            <a:r>
              <a:rPr sz="1400"/>
              <a:t>• ГОСТ Р ИСО 10218-1-2016</a:t>
            </a:r>
          </a:p>
        </p:txBody>
      </p:sp>
      <p:pic>
        <p:nvPicPr>
          <p:cNvPr id="5" name="Picture 4" descr="fanuc_intellig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0" y="3780000"/>
            <a:ext cx="3600000" cy="27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2. Требования к продукту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400"/>
              <a:t>Обязательные:</a:t>
            </a:r>
          </a:p>
          <a:p>
            <a:pPr>
              <a:spcAft>
                <a:spcPts val="300"/>
              </a:spcAft>
            </a:pPr>
            <a:r>
              <a:rPr sz="1400"/>
              <a:t>• Грузоподъёмность ≥ 25 кг</a:t>
            </a:r>
          </a:p>
          <a:p>
            <a:pPr>
              <a:spcAft>
                <a:spcPts val="300"/>
              </a:spcAft>
            </a:pPr>
            <a:r>
              <a:rPr sz="1400"/>
              <a:t>• Повторяемость ≤ ±0,03 мм</a:t>
            </a:r>
          </a:p>
          <a:p>
            <a:pPr>
              <a:spcAft>
                <a:spcPts val="300"/>
              </a:spcAft>
            </a:pPr>
            <a:r>
              <a:rPr sz="1400"/>
              <a:t>• Защита IP67</a:t>
            </a:r>
          </a:p>
          <a:p>
            <a:pPr>
              <a:spcAft>
                <a:spcPts val="300"/>
              </a:spcAft>
            </a:pPr>
            <a:r>
              <a:rPr sz="1400"/>
              <a:t>• ГОСТ Р ИСО 10218-1-2016</a:t>
            </a:r>
          </a:p>
          <a:p>
            <a:pPr>
              <a:spcAft>
                <a:spcPts val="300"/>
              </a:spcAft>
            </a:pPr>
            <a:r>
              <a:rPr sz="1400"/>
              <a:t>• Тех. зрение, MTBF ≥ 60 000 ч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Желательные:</a:t>
            </a:r>
          </a:p>
          <a:p>
            <a:pPr>
              <a:spcAft>
                <a:spcPts val="300"/>
              </a:spcAft>
            </a:pPr>
            <a:r>
              <a:rPr sz="1400"/>
              <a:t>• Полое запястье</a:t>
            </a:r>
          </a:p>
          <a:p>
            <a:pPr>
              <a:spcAft>
                <a:spcPts val="300"/>
              </a:spcAft>
            </a:pPr>
            <a:r>
              <a:rPr sz="1400"/>
              <a:t>• Коллаборативный режим</a:t>
            </a:r>
          </a:p>
          <a:p>
            <a:pPr>
              <a:spcAft>
                <a:spcPts val="300"/>
              </a:spcAft>
            </a:pPr>
            <a:r>
              <a:rPr sz="1400"/>
              <a:t>• EtherNet/IP, PROFINET</a:t>
            </a:r>
          </a:p>
          <a:p>
            <a:pPr>
              <a:spcAft>
                <a:spcPts val="300"/>
              </a:spcAft>
            </a:pPr>
            <a:r>
              <a:rPr sz="1400"/>
              <a:t>• ≤ 2 кВт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400"/>
              <a:t>Ограничения: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Технологические:</a:t>
            </a:r>
          </a:p>
          <a:p>
            <a:pPr>
              <a:spcAft>
                <a:spcPts val="300"/>
              </a:spcAft>
            </a:pPr>
            <a:r>
              <a:rPr sz="1400"/>
              <a:t>импорт редукторов ограничен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Ресурсные:</a:t>
            </a:r>
          </a:p>
          <a:p>
            <a:pPr>
              <a:spcAft>
                <a:spcPts val="300"/>
              </a:spcAft>
            </a:pPr>
            <a:r>
              <a:rPr sz="1400"/>
              <a:t>НИОКР до 150 млн руб.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Нормативные:</a:t>
            </a:r>
          </a:p>
          <a:p>
            <a:pPr>
              <a:spcAft>
                <a:spcPts val="300"/>
              </a:spcAft>
            </a:pPr>
            <a:r>
              <a:rPr sz="1400"/>
              <a:t>ТР ТС 010/2011</a:t>
            </a:r>
          </a:p>
        </p:txBody>
      </p:sp>
      <p:pic>
        <p:nvPicPr>
          <p:cNvPr id="5" name="Picture 4" descr="cobot_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0" y="3780000"/>
            <a:ext cx="3600000" cy="27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3. Жизненный цикл (ГОСТ Р 56136-2014)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300"/>
              <a:t>НИР → ОКР → Производство →</a:t>
            </a:r>
          </a:p>
          <a:p>
            <a:pPr>
              <a:spcAft>
                <a:spcPts val="300"/>
              </a:spcAft>
            </a:pPr>
            <a:r>
              <a:rPr sz="1300"/>
              <a:t>→ Эксплуатация → Утилизация</a:t>
            </a:r>
          </a:p>
          <a:p>
            <a:pPr>
              <a:spcAft>
                <a:spcPts val="300"/>
              </a:spcAft>
            </a:pPr>
            <a:r>
              <a:rPr sz="1300"/>
              <a:t/>
            </a:r>
          </a:p>
          <a:p>
            <a:pPr>
              <a:spcAft>
                <a:spcPts val="300"/>
              </a:spcAft>
            </a:pPr>
            <a:r>
              <a:rPr sz="1300"/>
              <a:t>1. НИР: анализ рынка, ТЗ</a:t>
            </a:r>
          </a:p>
          <a:p>
            <a:pPr>
              <a:spcAft>
                <a:spcPts val="300"/>
              </a:spcAft>
            </a:pPr>
            <a:r>
              <a:rPr sz="1300"/>
              <a:t>   → выбор кинематики</a:t>
            </a:r>
          </a:p>
          <a:p>
            <a:pPr>
              <a:spcAft>
                <a:spcPts val="300"/>
              </a:spcAft>
            </a:pPr>
            <a:r>
              <a:rPr sz="1300"/>
              <a:t/>
            </a:r>
          </a:p>
          <a:p>
            <a:pPr>
              <a:spcAft>
                <a:spcPts val="300"/>
              </a:spcAft>
            </a:pPr>
            <a:r>
              <a:rPr sz="1300"/>
              <a:t>2. ОКР: аванпроект, РКД</a:t>
            </a:r>
          </a:p>
          <a:p>
            <a:pPr>
              <a:spcAft>
                <a:spcPts val="300"/>
              </a:spcAft>
            </a:pPr>
            <a:r>
              <a:rPr sz="1300"/>
              <a:t>   → отечественные комплектующие</a:t>
            </a:r>
          </a:p>
          <a:p>
            <a:pPr>
              <a:spcAft>
                <a:spcPts val="300"/>
              </a:spcAft>
            </a:pPr>
            <a:r>
              <a:rPr sz="1300"/>
              <a:t/>
            </a:r>
          </a:p>
          <a:p>
            <a:pPr>
              <a:spcAft>
                <a:spcPts val="300"/>
              </a:spcAft>
            </a:pPr>
            <a:r>
              <a:rPr sz="1300"/>
              <a:t>3. Производство: техподготовка</a:t>
            </a:r>
          </a:p>
          <a:p>
            <a:pPr>
              <a:spcAft>
                <a:spcPts val="300"/>
              </a:spcAft>
            </a:pPr>
            <a:r>
              <a:rPr sz="1300"/>
              <a:t>   → аддитивные технологии</a:t>
            </a:r>
          </a:p>
          <a:p>
            <a:pPr>
              <a:spcAft>
                <a:spcPts val="300"/>
              </a:spcAft>
            </a:pPr>
            <a:r>
              <a:rPr sz="1300"/>
              <a:t/>
            </a:r>
          </a:p>
          <a:p>
            <a:pPr>
              <a:spcAft>
                <a:spcPts val="300"/>
              </a:spcAft>
            </a:pPr>
            <a:r>
              <a:rPr sz="1300"/>
              <a:t>4. Эксплуатация: ТО, ремонт</a:t>
            </a:r>
          </a:p>
          <a:p>
            <a:pPr>
              <a:spcAft>
                <a:spcPts val="300"/>
              </a:spcAft>
            </a:pPr>
            <a:r>
              <a:rPr sz="1300"/>
              <a:t>   → обновление ПО</a:t>
            </a:r>
          </a:p>
          <a:p>
            <a:pPr>
              <a:spcAft>
                <a:spcPts val="300"/>
              </a:spcAft>
            </a:pPr>
            <a:r>
              <a:rPr sz="1300"/>
              <a:t/>
            </a:r>
          </a:p>
          <a:p>
            <a:pPr>
              <a:spcAft>
                <a:spcPts val="300"/>
              </a:spcAft>
            </a:pPr>
            <a:r>
              <a:rPr sz="1300"/>
              <a:t>5. Утилизация: демонтаж,</a:t>
            </a:r>
          </a:p>
          <a:p>
            <a:pPr>
              <a:spcAft>
                <a:spcPts val="300"/>
              </a:spcAft>
            </a:pPr>
            <a:r>
              <a:rPr sz="1300"/>
              <a:t>   переработка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fanuc_fac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440000"/>
            <a:ext cx="5040000" cy="378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4. Формы кооперации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400"/>
              <a:t>Производственная —</a:t>
            </a:r>
          </a:p>
          <a:p>
            <a:pPr>
              <a:spcAft>
                <a:spcPts val="300"/>
              </a:spcAft>
            </a:pPr>
            <a:r>
              <a:rPr sz="1400"/>
              <a:t>корпуса и узлы у партнёров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Технологическая —</a:t>
            </a:r>
          </a:p>
          <a:p>
            <a:pPr>
              <a:spcAft>
                <a:spcPts val="300"/>
              </a:spcAft>
            </a:pPr>
            <a:r>
              <a:rPr sz="1400"/>
              <a:t>испытания совместно с НИИ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Научно-техническая —</a:t>
            </a:r>
          </a:p>
          <a:p>
            <a:pPr>
              <a:spcAft>
                <a:spcPts val="300"/>
              </a:spcAft>
            </a:pPr>
            <a:r>
              <a:rPr sz="1400"/>
              <a:t>алгоритмы с кафедрами ГУАП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Риски:</a:t>
            </a:r>
          </a:p>
          <a:p>
            <a:pPr>
              <a:spcAft>
                <a:spcPts val="300"/>
              </a:spcAft>
            </a:pPr>
            <a:r>
              <a:rPr sz="1400"/>
              <a:t>• Срыв сроков → резерв</a:t>
            </a:r>
          </a:p>
          <a:p>
            <a:pPr>
              <a:spcAft>
                <a:spcPts val="300"/>
              </a:spcAft>
            </a:pPr>
            <a:r>
              <a:rPr sz="1400"/>
              <a:t>• Утечка ИС → NDA</a:t>
            </a:r>
          </a:p>
          <a:p>
            <a:pPr>
              <a:spcAft>
                <a:spcPts val="300"/>
              </a:spcAft>
            </a:pPr>
            <a:r>
              <a:rPr sz="1400"/>
              <a:t>• Брак → входной контроль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400"/>
              <a:t>Распределение: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• Головное предприятие:</a:t>
            </a:r>
          </a:p>
          <a:p>
            <a:pPr>
              <a:spcAft>
                <a:spcPts val="300"/>
              </a:spcAft>
            </a:pPr>
            <a:r>
              <a:rPr sz="1400"/>
              <a:t>  проектирование, сборка,</a:t>
            </a:r>
          </a:p>
          <a:p>
            <a:pPr>
              <a:spcAft>
                <a:spcPts val="300"/>
              </a:spcAft>
            </a:pPr>
            <a:r>
              <a:rPr sz="1400"/>
              <a:t>  ПО, сервис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• Механика: корпуса, звенья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• Электроника: платы, модули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• Университет: НИОКР, кадры</a:t>
            </a:r>
          </a:p>
        </p:txBody>
      </p:sp>
      <p:pic>
        <p:nvPicPr>
          <p:cNvPr id="5" name="Picture 4" descr="assembly_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00" y="2880000"/>
            <a:ext cx="2880000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5. Элементы НИОКР и проектирования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300"/>
              <a:t>Техническое задание:</a:t>
            </a:r>
          </a:p>
          <a:p>
            <a:pPr>
              <a:spcAft>
                <a:spcPts val="300"/>
              </a:spcAft>
            </a:pPr>
            <a:r>
              <a:rPr sz="1300"/>
              <a:t>• 6-осевой, 25 кг, ≥1800 мм</a:t>
            </a:r>
          </a:p>
          <a:p>
            <a:pPr>
              <a:spcAft>
                <a:spcPts val="300"/>
              </a:spcAft>
            </a:pPr>
            <a:r>
              <a:rPr sz="1300"/>
              <a:t>• ±0,02 мм, отечественный</a:t>
            </a:r>
          </a:p>
          <a:p>
            <a:pPr>
              <a:spcAft>
                <a:spcPts val="300"/>
              </a:spcAft>
            </a:pPr>
            <a:r>
              <a:rPr sz="1300"/>
              <a:t>  контроллер</a:t>
            </a:r>
          </a:p>
          <a:p>
            <a:pPr>
              <a:spcAft>
                <a:spcPts val="300"/>
              </a:spcAft>
            </a:pPr>
            <a:r>
              <a:rPr sz="1300"/>
              <a:t>• Срок: 18 месяцев</a:t>
            </a:r>
          </a:p>
          <a:p>
            <a:pPr>
              <a:spcAft>
                <a:spcPts val="300"/>
              </a:spcAft>
            </a:pPr>
            <a:r>
              <a:rPr sz="1300"/>
              <a:t/>
            </a:r>
          </a:p>
          <a:p>
            <a:pPr>
              <a:spcAft>
                <a:spcPts val="300"/>
              </a:spcAft>
            </a:pPr>
            <a:r>
              <a:rPr sz="1300"/>
              <a:t>Аванпроект:</a:t>
            </a:r>
          </a:p>
          <a:p>
            <a:pPr>
              <a:spcAft>
                <a:spcPts val="300"/>
              </a:spcAft>
            </a:pPr>
            <a:r>
              <a:rPr sz="1300"/>
              <a:t>Анализ FANUC M-20iD/25,</a:t>
            </a:r>
          </a:p>
          <a:p>
            <a:pPr>
              <a:spcAft>
                <a:spcPts val="300"/>
              </a:spcAft>
            </a:pPr>
            <a:r>
              <a:rPr sz="1300"/>
              <a:t>KUKA KR 20, ABB IRB 2600</a:t>
            </a:r>
          </a:p>
          <a:p>
            <a:pPr>
              <a:spcAft>
                <a:spcPts val="300"/>
              </a:spcAft>
            </a:pPr>
            <a:r>
              <a:rPr sz="1300"/>
              <a:t/>
            </a:r>
          </a:p>
          <a:p>
            <a:pPr>
              <a:spcAft>
                <a:spcPts val="300"/>
              </a:spcAft>
            </a:pPr>
            <a:r>
              <a:rPr sz="1300"/>
              <a:t>Документация:</a:t>
            </a:r>
          </a:p>
          <a:p>
            <a:pPr>
              <a:spcAft>
                <a:spcPts val="300"/>
              </a:spcAft>
            </a:pPr>
            <a:r>
              <a:rPr sz="1300"/>
              <a:t>• ТЗ (ГОСТ 15.016-2016)</a:t>
            </a:r>
          </a:p>
          <a:p>
            <a:pPr>
              <a:spcAft>
                <a:spcPts val="300"/>
              </a:spcAft>
            </a:pPr>
            <a:r>
              <a:rPr sz="1300"/>
              <a:t>• Сборочные чертежи</a:t>
            </a:r>
          </a:p>
          <a:p>
            <a:pPr>
              <a:spcAft>
                <a:spcPts val="300"/>
              </a:spcAft>
            </a:pPr>
            <a:r>
              <a:rPr sz="1300"/>
              <a:t>• Электросхемы</a:t>
            </a:r>
          </a:p>
          <a:p>
            <a:pPr>
              <a:spcAft>
                <a:spcPts val="300"/>
              </a:spcAft>
            </a:pPr>
            <a:r>
              <a:rPr sz="1300"/>
              <a:t>• Программа испытаний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fanuc_wel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440000"/>
            <a:ext cx="5040000" cy="378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6. Макетирование и опытные образцы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300"/>
              <a:t>Макетирование:</a:t>
            </a:r>
          </a:p>
          <a:p>
            <a:pPr>
              <a:spcAft>
                <a:spcPts val="300"/>
              </a:spcAft>
            </a:pPr>
            <a:r>
              <a:rPr sz="1300"/>
              <a:t>• 3D-печать корпусов</a:t>
            </a:r>
          </a:p>
          <a:p>
            <a:pPr>
              <a:spcAft>
                <a:spcPts val="300"/>
              </a:spcAft>
            </a:pPr>
            <a:r>
              <a:rPr sz="1300"/>
              <a:t>• Цифровые двойники</a:t>
            </a:r>
          </a:p>
          <a:p>
            <a:pPr>
              <a:spcAft>
                <a:spcPts val="300"/>
              </a:spcAft>
            </a:pPr>
            <a:r>
              <a:rPr sz="1300"/>
              <a:t>  (RoboDK, ROBOGUIDE)</a:t>
            </a:r>
          </a:p>
          <a:p>
            <a:pPr>
              <a:spcAft>
                <a:spcPts val="300"/>
              </a:spcAft>
            </a:pPr>
            <a:r>
              <a:rPr sz="1300"/>
              <a:t/>
            </a:r>
          </a:p>
          <a:p>
            <a:pPr>
              <a:spcAft>
                <a:spcPts val="300"/>
              </a:spcAft>
            </a:pPr>
            <a:r>
              <a:rPr sz="1300"/>
              <a:t>Опытный образец:</a:t>
            </a:r>
          </a:p>
          <a:p>
            <a:pPr>
              <a:spcAft>
                <a:spcPts val="300"/>
              </a:spcAft>
            </a:pPr>
            <a:r>
              <a:rPr sz="1300"/>
              <a:t>• Подтверждение ТТХ</a:t>
            </a:r>
          </a:p>
          <a:p>
            <a:pPr>
              <a:spcAft>
                <a:spcPts val="300"/>
              </a:spcAft>
            </a:pPr>
            <a:r>
              <a:rPr sz="1300"/>
              <a:t>• Отработка сборки</a:t>
            </a:r>
          </a:p>
          <a:p>
            <a:pPr>
              <a:spcAft>
                <a:spcPts val="300"/>
              </a:spcAft>
            </a:pPr>
            <a:r>
              <a:rPr sz="1300"/>
              <a:t>• Демонстрация заказчикам</a:t>
            </a:r>
          </a:p>
          <a:p>
            <a:pPr>
              <a:spcAft>
                <a:spcPts val="300"/>
              </a:spcAft>
            </a:pPr>
            <a:r>
              <a:rPr sz="1300"/>
              <a:t/>
            </a:r>
          </a:p>
          <a:p>
            <a:pPr>
              <a:spcAft>
                <a:spcPts val="300"/>
              </a:spcAft>
            </a:pPr>
            <a:r>
              <a:rPr sz="1300"/>
              <a:t>Испытания:</a:t>
            </a:r>
          </a:p>
          <a:p>
            <a:pPr>
              <a:spcAft>
                <a:spcPts val="300"/>
              </a:spcAft>
            </a:pPr>
            <a:r>
              <a:rPr sz="1300"/>
              <a:t>• Функциональные</a:t>
            </a:r>
          </a:p>
          <a:p>
            <a:pPr>
              <a:spcAft>
                <a:spcPts val="300"/>
              </a:spcAft>
            </a:pPr>
            <a:r>
              <a:rPr sz="1300"/>
              <a:t>• Ресурсные (1000 ч)</a:t>
            </a:r>
          </a:p>
          <a:p>
            <a:pPr>
              <a:spcAft>
                <a:spcPts val="300"/>
              </a:spcAft>
            </a:pPr>
            <a:r>
              <a:rPr sz="1300"/>
              <a:t>• Климатические (+5…+45°C)</a:t>
            </a:r>
          </a:p>
          <a:p>
            <a:pPr>
              <a:spcAft>
                <a:spcPts val="300"/>
              </a:spcAft>
            </a:pPr>
            <a:r>
              <a:rPr sz="1300"/>
              <a:t>• ЭМС, безопасность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fanuc_welding_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440000"/>
            <a:ext cx="5040000" cy="378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7. Верификация и валидация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400"/>
              <a:t>Верификация (соответствие ТЗ):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• Анализ КД</a:t>
            </a:r>
          </a:p>
          <a:p>
            <a:pPr>
              <a:spcAft>
                <a:spcPts val="300"/>
              </a:spcAft>
            </a:pPr>
            <a:r>
              <a:rPr sz="1400"/>
              <a:t>• Контроль размеров (КИМ)</a:t>
            </a:r>
          </a:p>
          <a:p>
            <a:pPr>
              <a:spcAft>
                <a:spcPts val="300"/>
              </a:spcAft>
            </a:pPr>
            <a:r>
              <a:rPr sz="1400"/>
              <a:t>• Статический анализ ПО</a:t>
            </a:r>
          </a:p>
          <a:p>
            <a:pPr>
              <a:spcAft>
                <a:spcPts val="300"/>
              </a:spcAft>
            </a:pPr>
            <a:r>
              <a:rPr sz="1400"/>
              <a:t>• Стендовые испытания узлов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400"/>
              <a:t>Валидация (пригодность):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• Сборочные операции на</a:t>
            </a:r>
          </a:p>
          <a:p>
            <a:pPr>
              <a:spcAft>
                <a:spcPts val="300"/>
              </a:spcAft>
            </a:pPr>
            <a:r>
              <a:rPr sz="1400"/>
              <a:t>  реальном производстве</a:t>
            </a:r>
          </a:p>
          <a:p>
            <a:pPr>
              <a:spcAft>
                <a:spcPts val="300"/>
              </a:spcAft>
            </a:pPr>
            <a:r>
              <a:rPr sz="1400"/>
              <a:t>• Цикл ≤ 15 с/операцию</a:t>
            </a:r>
          </a:p>
          <a:p>
            <a:pPr>
              <a:spcAft>
                <a:spcPts val="300"/>
              </a:spcAft>
            </a:pPr>
            <a:r>
              <a:rPr sz="1400"/>
              <a:t>• Оценка программирования</a:t>
            </a:r>
          </a:p>
          <a:p>
            <a:pPr>
              <a:spcAft>
                <a:spcPts val="300"/>
              </a:spcAft>
            </a:pPr>
            <a:r>
              <a:rPr sz="1400"/>
              <a:t>• 1000 циклов повторяемости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Решения:</a:t>
            </a:r>
          </a:p>
          <a:p>
            <a:pPr>
              <a:spcAft>
                <a:spcPts val="300"/>
              </a:spcAft>
            </a:pPr>
            <a:r>
              <a:rPr sz="1400"/>
              <a:t>• Норма → серия</a:t>
            </a:r>
          </a:p>
          <a:p>
            <a:pPr>
              <a:spcAft>
                <a:spcPts val="300"/>
              </a:spcAft>
            </a:pPr>
            <a:r>
              <a:rPr sz="1400"/>
              <a:t>• Отклонения → доработка</a:t>
            </a:r>
          </a:p>
          <a:p>
            <a:pPr>
              <a:spcAft>
                <a:spcPts val="300"/>
              </a:spcAft>
            </a:pPr>
            <a:r>
              <a:rPr sz="1400"/>
              <a:t>• Небезопасно → пересертификация</a:t>
            </a:r>
          </a:p>
        </p:txBody>
      </p:sp>
      <p:pic>
        <p:nvPicPr>
          <p:cNvPr id="5" name="Picture 4" descr="welding_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0" y="3780000"/>
            <a:ext cx="3600000" cy="27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8. Проектное и операционное управление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400"/>
              <a:t>Техподготовка производства: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1. Техпроцессы изготовления</a:t>
            </a:r>
          </a:p>
          <a:p>
            <a:pPr>
              <a:spcAft>
                <a:spcPts val="300"/>
              </a:spcAft>
            </a:pPr>
            <a:r>
              <a:rPr sz="1400"/>
              <a:t>2. Проектирование оснастки</a:t>
            </a:r>
          </a:p>
          <a:p>
            <a:pPr>
              <a:spcAft>
                <a:spcPts val="300"/>
              </a:spcAft>
            </a:pPr>
            <a:r>
              <a:rPr sz="1400"/>
              <a:t>3. Отладка на установочной</a:t>
            </a:r>
          </a:p>
          <a:p>
            <a:pPr>
              <a:spcAft>
                <a:spcPts val="300"/>
              </a:spcAft>
            </a:pPr>
            <a:r>
              <a:rPr sz="1400"/>
              <a:t>   партии</a:t>
            </a:r>
          </a:p>
          <a:p>
            <a:pPr>
              <a:spcAft>
                <a:spcPts val="300"/>
              </a:spcAft>
            </a:pPr>
            <a:r>
              <a:rPr sz="1400"/>
              <a:t>4. Аттестация, обучение</a:t>
            </a:r>
          </a:p>
          <a:p>
            <a:pPr>
              <a:spcAft>
                <a:spcPts val="300"/>
              </a:spcAft>
            </a:pPr>
            <a:r>
              <a:rPr sz="1400"/>
              <a:t>5. Серийное производство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Планирование:</a:t>
            </a:r>
          </a:p>
          <a:p>
            <a:pPr>
              <a:spcAft>
                <a:spcPts val="300"/>
              </a:spcAft>
            </a:pPr>
            <a:r>
              <a:rPr sz="1400"/>
              <a:t>Диаграмма Ганта, WBS,</a:t>
            </a:r>
          </a:p>
          <a:p>
            <a:pPr>
              <a:spcAft>
                <a:spcPts val="300"/>
              </a:spcAft>
            </a:pPr>
            <a:r>
              <a:rPr sz="1400"/>
              <a:t>план закупок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400"/>
              <a:t>Контроль: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• СМК по ГОСТ Р ИСО 9001</a:t>
            </a:r>
          </a:p>
          <a:p>
            <a:pPr>
              <a:spcAft>
                <a:spcPts val="300"/>
              </a:spcAft>
            </a:pPr>
            <a:r>
              <a:rPr sz="1400"/>
              <a:t>• SPC (стат. контроль)</a:t>
            </a:r>
          </a:p>
          <a:p>
            <a:pPr>
              <a:spcAft>
                <a:spcPts val="300"/>
              </a:spcAft>
            </a:pPr>
            <a:r>
              <a:rPr sz="1400"/>
              <a:t>• Входной контроль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Ресурсы:</a:t>
            </a:r>
          </a:p>
          <a:p>
            <a:pPr>
              <a:spcAft>
                <a:spcPts val="300"/>
              </a:spcAft>
            </a:pPr>
            <a:r>
              <a:rPr sz="1400"/>
              <a:t>• Инженеры-робототехники</a:t>
            </a:r>
          </a:p>
          <a:p>
            <a:pPr>
              <a:spcAft>
                <a:spcPts val="300"/>
              </a:spcAft>
            </a:pPr>
            <a:r>
              <a:rPr sz="1400"/>
              <a:t>• ЧПУ-станки, КИМ</a:t>
            </a:r>
          </a:p>
          <a:p>
            <a:pPr>
              <a:spcAft>
                <a:spcPts val="300"/>
              </a:spcAft>
            </a:pPr>
            <a:r>
              <a:rPr sz="1400"/>
              <a:t>• Алюминиевые сплавы</a:t>
            </a:r>
          </a:p>
          <a:p>
            <a:pPr>
              <a:spcAft>
                <a:spcPts val="300"/>
              </a:spcAft>
            </a:pPr>
            <a:r>
              <a:rPr sz="1400"/>
              <a:t>• Высокопрочные стали</a:t>
            </a:r>
          </a:p>
        </p:txBody>
      </p:sp>
      <p:pic>
        <p:nvPicPr>
          <p:cNvPr id="5" name="Picture 4" descr="welding_fac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5040000"/>
            <a:ext cx="5040000" cy="144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/>
              <a:t>9. Паспорт проекта и инвестиционная привлекательность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400"/>
              <a:t>Проект «РМ-25»: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• Срок: 24 мес.</a:t>
            </a:r>
          </a:p>
          <a:p>
            <a:pPr>
              <a:spcAft>
                <a:spcPts val="300"/>
              </a:spcAft>
            </a:pPr>
            <a:r>
              <a:rPr sz="1400"/>
              <a:t>  (НИОКР 18 + подготовка 6)</a:t>
            </a:r>
          </a:p>
          <a:p>
            <a:pPr>
              <a:spcAft>
                <a:spcPts val="300"/>
              </a:spcAft>
            </a:pPr>
            <a:r>
              <a:rPr sz="1400"/>
              <a:t>• Бюджет НИОКР: 150 млн руб.</a:t>
            </a:r>
          </a:p>
          <a:p>
            <a:pPr>
              <a:spcAft>
                <a:spcPts val="300"/>
              </a:spcAft>
            </a:pPr>
            <a:r>
              <a:rPr sz="1400"/>
              <a:t>• Производство: 200 млн руб.</a:t>
            </a:r>
          </a:p>
          <a:p>
            <a:pPr>
              <a:spcAft>
                <a:spcPts val="300"/>
              </a:spcAft>
            </a:pPr>
            <a:r>
              <a:rPr sz="1400"/>
              <a:t>• Выпуск: 100 ед./год</a:t>
            </a:r>
          </a:p>
          <a:p>
            <a:pPr>
              <a:spcAft>
                <a:spcPts val="300"/>
              </a:spcAft>
            </a:pPr>
            <a:r>
              <a:rPr sz="1400"/>
              <a:t>• Цена: 5,5–6,0 млн руб.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sz="1400"/>
              <a:t>Инвест. привлекательность:</a:t>
            </a:r>
          </a:p>
          <a:p>
            <a:pPr>
              <a:spcAft>
                <a:spcPts val="300"/>
              </a:spcAft>
            </a:pPr>
            <a:r>
              <a:rPr sz="1400"/>
              <a:t/>
            </a:r>
          </a:p>
          <a:p>
            <a:pPr>
              <a:spcAft>
                <a:spcPts val="300"/>
              </a:spcAft>
            </a:pPr>
            <a:r>
              <a:rPr sz="1400"/>
              <a:t>• Нацпроект роботизации</a:t>
            </a:r>
          </a:p>
          <a:p>
            <a:pPr>
              <a:spcAft>
                <a:spcPts val="300"/>
              </a:spcAft>
            </a:pPr>
            <a:r>
              <a:rPr sz="1400"/>
              <a:t>• Рынок +14%/год</a:t>
            </a:r>
          </a:p>
          <a:p>
            <a:pPr>
              <a:spcAft>
                <a:spcPts val="300"/>
              </a:spcAft>
            </a:pPr>
            <a:r>
              <a:rPr sz="1400"/>
              <a:t>• Импортозамещение</a:t>
            </a:r>
          </a:p>
          <a:p>
            <a:pPr>
              <a:spcAft>
                <a:spcPts val="300"/>
              </a:spcAft>
            </a:pPr>
            <a:r>
              <a:rPr sz="1400"/>
              <a:t>  FANUC / KUKA / ABB</a:t>
            </a:r>
          </a:p>
          <a:p>
            <a:pPr>
              <a:spcAft>
                <a:spcPts val="300"/>
              </a:spcAft>
            </a:pPr>
            <a:r>
              <a:rPr sz="1400"/>
              <a:t>• Окупаемость: 4 года</a:t>
            </a:r>
          </a:p>
          <a:p>
            <a:pPr>
              <a:spcAft>
                <a:spcPts val="300"/>
              </a:spcAft>
            </a:pPr>
            <a:r>
              <a:rPr sz="1400"/>
              <a:t>• Выручка: 550 млн/год</a:t>
            </a:r>
          </a:p>
          <a:p>
            <a:pPr>
              <a:spcAft>
                <a:spcPts val="300"/>
              </a:spcAft>
            </a:pPr>
            <a:r>
              <a:rPr sz="1400"/>
              <a:t>• 80+ рабочих мест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Универсальные блоки - таблицы, рисунки, диаграммы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001A831C-BEEC-4D03-A706-230513593B8E}"/>
    </a:ext>
  </a:extLst>
</a:theme>
</file>

<file path=ppt/theme/theme4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2</TotalTime>
  <Words>1643</Words>
  <Application>Microsoft Office PowerPoint</Application>
  <PresentationFormat>Широкоэкранный</PresentationFormat>
  <Paragraphs>176</Paragraphs>
  <Slides>29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29</vt:i4>
      </vt:variant>
    </vt:vector>
  </HeadingPairs>
  <TitlesOfParts>
    <vt:vector size="36" baseType="lpstr">
      <vt:lpstr>Calibri</vt:lpstr>
      <vt:lpstr>Wingdings</vt:lpstr>
      <vt:lpstr>Arial</vt:lpstr>
      <vt:lpstr>Титульная страница</vt:lpstr>
      <vt:lpstr>Текстовые блоки</vt:lpstr>
      <vt:lpstr>Универсальные блоки - таблицы, рисунки, диаграммы</vt:lpstr>
      <vt:lpstr>Дополнительные блоки</vt:lpstr>
      <vt:lpstr>Фирменный стиль  презентаций</vt:lpstr>
      <vt:lpstr>Основные правила: направляющие, стили</vt:lpstr>
      <vt:lpstr>Основные правила: макеты и цветовая палитра</vt:lpstr>
      <vt:lpstr>Основные правила: текстовые стили</vt:lpstr>
      <vt:lpstr>Основные правила: текстовые стили</vt:lpstr>
      <vt:lpstr>Основные правила: таблицы</vt:lpstr>
      <vt:lpstr>Основные правила: изображения</vt:lpstr>
      <vt:lpstr>Пример использования  макетов шаблона</vt:lpstr>
      <vt:lpstr>Заголовок презентации</vt:lpstr>
      <vt:lpstr>Текст – один блок</vt:lpstr>
      <vt:lpstr>Текст – два блока</vt:lpstr>
      <vt:lpstr>Текст – два блока (с рамкой)</vt:lpstr>
      <vt:lpstr>Текст – две колонки в одном блоке</vt:lpstr>
      <vt:lpstr>Содержимое слайда в одной колонке (универсальный блок)</vt:lpstr>
      <vt:lpstr>Содержимое слайда в одной колонке с заголовком (универсальный блок)</vt:lpstr>
      <vt:lpstr>Содержимое слайда в двух колонках с заголовками (универсальный блок)</vt:lpstr>
      <vt:lpstr>Текст и диаграмма в двух колонках (универсальный блок)</vt:lpstr>
      <vt:lpstr>Текст и рисунок в двух колонках (универсальный блок)</vt:lpstr>
      <vt:lpstr>Схема с использованием базового набора фигур  (см. Дополнительные материалы, слайд 26)</vt:lpstr>
      <vt:lpstr>Здание ГУАП со стороны реки Мойки</vt:lpstr>
      <vt:lpstr>Презентация PowerPoint</vt:lpstr>
      <vt:lpstr>Презентация PowerPoint</vt:lpstr>
      <vt:lpstr>Дополнительные  материалы </vt:lpstr>
      <vt:lpstr>Иконки подразделений. Фирменный цвет подразделений</vt:lpstr>
      <vt:lpstr>Иконки подразделений. Цветовая палитра ГУАП</vt:lpstr>
      <vt:lpstr>Базовый набор фигур *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subject/>
  <dc:creator>Алексей Малышев</dc:creator>
  <cp:keywords/>
  <dc:description/>
  <cp:lastModifiedBy>Алексей Малышев</cp:lastModifiedBy>
  <cp:revision>2</cp:revision>
  <dcterms:created xsi:type="dcterms:W3CDTF">2023-06-16T08:15:39Z</dcterms:created>
  <dcterms:modified xsi:type="dcterms:W3CDTF">2023-06-16T08:17:59Z</dcterms:modified>
  <cp:category/>
</cp:coreProperties>
</file>