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28" r:id="rId3"/>
    <p:sldMasterId id="2147483833" r:id="rId4"/>
  </p:sldMasterIdLst>
  <p:notesMasterIdLst>
    <p:notesMasterId r:id="rId34"/>
  </p:notesMasterIdLst>
  <p:handoutMasterIdLst>
    <p:handoutMasterId r:id="rId35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</p:sldIdLst>
  <p:sldSz cx="12192000" cy="68580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173"/>
            <p14:sldId id="1097"/>
            <p14:sldId id="1172"/>
            <p14:sldId id="1102"/>
            <p14:sldId id="1185"/>
          </p14:sldIdLst>
        </p14:section>
        <p14:section name="Пример презентации" id="{09F8C32E-5747-4822-BAD0-340E7A748DE7}">
          <p14:sldIdLst>
            <p14:sldId id="1174"/>
            <p14:sldId id="1170"/>
            <p14:sldId id="1180"/>
            <p14:sldId id="1181"/>
            <p14:sldId id="1179"/>
            <p14:sldId id="1177"/>
            <p14:sldId id="1186"/>
            <p14:sldId id="1187"/>
            <p14:sldId id="1188"/>
            <p14:sldId id="1194"/>
            <p14:sldId id="1195"/>
            <p14:sldId id="1189"/>
            <p14:sldId id="1198"/>
            <p14:sldId id="1129"/>
            <p14:sldId id="1119"/>
          </p14:sldIdLst>
        </p14:section>
        <p14:section name="Дополнительные материалы" id="{62AE7809-B62A-4B2F-9EA4-7E7E0961CF08}">
          <p14:sldIdLst>
            <p14:sldId id="1175"/>
            <p14:sldId id="1190"/>
            <p14:sldId id="1191"/>
            <p14:sldId id="1120"/>
          </p14:sldIdLst>
        </p14:section>
        <p14:section name="Макеты для завершения презентации" id="{7BDEF82D-D64F-4A14-9B34-FEADAC1724BD}">
          <p14:sldIdLst>
            <p14:sldId id="1192"/>
            <p14:sldId id="1193"/>
            <p14:sldId id="11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0520" autoAdjust="0"/>
  </p:normalViewPr>
  <p:slideViewPr>
    <p:cSldViewPr snapToGrid="0" snapToObjects="1">
      <p:cViewPr varScale="1">
        <p:scale>
          <a:sx n="163" d="100"/>
          <a:sy n="163" d="100"/>
        </p:scale>
        <p:origin x="138" y="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commentAuthors" Target="commentAuthors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16.06.2023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7212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блок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819276"/>
            <a:ext cx="7475537" cy="45624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7475536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56156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4B2F2CF-1F6E-4737-8380-2ACFF853EA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84797F9-7539-4EA9-A418-767254923B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363" y="1341438"/>
            <a:ext cx="5184775" cy="5040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5427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блока с заголовком/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C3877D-2148-449E-8D18-378259BFD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9A78599F-D79E-4281-BEF4-7422CEEA5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66194" y="1828800"/>
            <a:ext cx="5184776" cy="455294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42A86BF5-AF69-48DE-AFDD-C1FAD65027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194" y="1341438"/>
            <a:ext cx="5184775" cy="635000"/>
          </a:xfrm>
        </p:spPr>
        <p:txBody>
          <a:bodyPr/>
          <a:lstStyle/>
          <a:p>
            <a:pPr lvl="1"/>
            <a:r>
              <a:rPr lang="ru-RU" dirty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1124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2.xm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Relationship Id="rId6" Type="http://schemas.openxmlformats.org/officeDocument/2006/relationships/image" Target="../media/image4.png"/><Relationship Id="rId7" Type="http://schemas.openxmlformats.org/officeDocument/2006/relationships/image" Target="../media/image5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theme" Target="../theme/theme4.xml"/><Relationship Id="rId8" Type="http://schemas.openxmlformats.org/officeDocument/2006/relationships/image" Target="../media/image4.png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BA297-C05B-4A1B-BC54-4DA26B4C6721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85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44" r:id="rId2"/>
    <p:sldLayoutId id="2147483832" r:id="rId3"/>
    <p:sldLayoutId id="214748384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и алгоритмы принятия коллективных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800" y="4104000"/>
            <a:ext cx="79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23232"/>
                </a:solidFill>
                <a:latin typeface="Arial"/>
              </a:rPr>
              <a:t>Реферат по дисциплине</a:t>
            </a:r>
          </a:p>
          <a:p>
            <a:r>
              <a:rPr sz="1600" b="1">
                <a:solidFill>
                  <a:srgbClr val="323232"/>
                </a:solidFill>
                <a:latin typeface="Arial"/>
              </a:rPr>
              <a:t>«Управление качеством организационных систем»</a:t>
            </a:r>
          </a:p>
          <a:p>
            <a:r>
              <a:rPr sz="1600" b="0">
                <a:solidFill>
                  <a:srgbClr val="323232"/>
                </a:solidFill>
                <a:latin typeface="Arial"/>
              </a:rPr>
              <a:t/>
            </a:r>
          </a:p>
          <a:p>
            <a:r>
              <a:rPr sz="1600" b="0">
                <a:solidFill>
                  <a:srgbClr val="323232"/>
                </a:solidFill>
                <a:latin typeface="Arial"/>
              </a:rPr>
              <a:t>Выполнил: студент гр. М558М Д. С. Рослов</a:t>
            </a:r>
          </a:p>
          <a:p>
            <a:r>
              <a:rPr sz="1600" b="0">
                <a:solidFill>
                  <a:srgbClr val="323232"/>
                </a:solidFill>
                <a:latin typeface="Arial"/>
              </a:rPr>
              <a:t>Руководитель: канд. техн. наук, доцент В. М. Милова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3999" y="5993999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23232"/>
                </a:solidFill>
                <a:latin typeface="Arial"/>
              </a:rPr>
              <a:t>Санкт-Петербург,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Содержание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1. Задача принятия группового решения</a:t>
            </a:r>
          </a:p>
          <a:p>
            <a:r>
              <a:t>2. Правило большинства голосов и принцип Кондорсе</a:t>
            </a:r>
          </a:p>
          <a:p>
            <a:r>
              <a:t>3. Метод Борда</a:t>
            </a:r>
          </a:p>
          <a:p>
            <a:r>
              <a:t>4. Парадокс Эрроу</a:t>
            </a:r>
          </a:p>
          <a:p>
            <a:r>
              <a:t>5. Пример: выбор системы менеджмента качества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Задача принятия группового решения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Дано: множество альтернатив A = {a₁, …, aₘ}, экспертов E = {e₁, …, eₙ}, профиль предпочтений P = (≻₁, …, ≻ₙ).</a:t>
            </a:r>
          </a:p>
          <a:p>
            <a:r>
              <a:t>Найти: правило F: P → R, где R — коллективное отношение на A.</a:t>
            </a:r>
          </a:p>
          <a:p>
            <a:r>
              <a:t>Желаемые свойства алгоритма:</a:t>
            </a:r>
          </a:p>
          <a:p>
            <a:r>
              <a:t>• универсальная область;</a:t>
            </a:r>
          </a:p>
          <a:p>
            <a:r>
              <a:t>• единогласие (Парето);</a:t>
            </a:r>
          </a:p>
          <a:p>
            <a:r>
              <a:t>• независимость от посторонних альтернатив;</a:t>
            </a:r>
          </a:p>
          <a:p>
            <a:r>
              <a:t>• отсутствие диктатора;</a:t>
            </a:r>
          </a:p>
          <a:p>
            <a:r>
              <a:t>• монотонность.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 Правило большинства голосов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Каждый эксперт указывает одну предпочитаемую альтернативу — побеждает набравшая больше всех голосов.</a:t>
            </a:r>
          </a:p>
          <a:p>
            <a:r>
              <a:t>Виды большинства: абсолютное (&gt;50%) и относительное.</a:t>
            </a:r>
          </a:p>
          <a:p>
            <a:r>
              <a:t>Достоинства: простота, интуитивная понятность, широко применяется.</a:t>
            </a:r>
          </a:p>
          <a:p>
            <a:r>
              <a:t>Недостатки: использует только 1-е место; возможен парадокс «победителя меньшинства»; неинформативно при m ≥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 Принцип Кондорсе и парадокс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Победитель Кондорсе: альтернатива x, для которой N(x, y) &gt; N(y, x) для всех y ≠ x.</a:t>
            </a:r>
          </a:p>
          <a:p>
            <a:r>
              <a:t>N(x, y) — число экспертов, предпочитающих x альтернативе y.</a:t>
            </a:r>
          </a:p>
          <a:p>
            <a:r>
              <a:t>Использует полную информацию о ранжированиях.</a:t>
            </a:r>
          </a:p>
          <a:p>
            <a:r>
              <a:t>Удовлетворяет: Парето, монотонность, IIA в попарном сравнении.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Парадокс Кондорсе (1785):</a:t>
            </a:r>
          </a:p>
          <a:p>
            <a:r>
              <a:t>e₁: a ≻ b ≻ c</a:t>
            </a:r>
          </a:p>
          <a:p>
            <a:r>
              <a:t>e₂: b ≻ c ≻ a</a:t>
            </a:r>
          </a:p>
          <a:p>
            <a:r>
              <a:t>e₃: c ≻ a ≻ b</a:t>
            </a:r>
          </a:p>
          <a:p>
            <a:r>
              <a:t>В попарных сравнениях получаем цикл: a ≻ b ≻ c ≻ a.</a:t>
            </a:r>
          </a:p>
          <a:p>
            <a:r>
              <a:t>Победителя Кондорсе нет — мажоритарное отношение нетранзитивно.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Метод Борда (1770)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Оценка альтернативы x:</a:t>
            </a:r>
          </a:p>
          <a:p>
            <a:r>
              <a:t>B(x) = Σₖ (m − rₖ(x)),</a:t>
            </a:r>
          </a:p>
          <a:p>
            <a:r>
              <a:t>где rₖ(x) — ранг x у эксперта k (1 — лучший).</a:t>
            </a:r>
          </a:p>
          <a:p>
            <a:r>
              <a:t>При m альтернативах 1-е место даёт m − 1 балл, последнее — 0.</a:t>
            </a:r>
          </a:p>
          <a:p>
            <a:r>
              <a:t>Победитель Борда — альтернатива с max B(x).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Достоинства:</a:t>
            </a:r>
          </a:p>
          <a:p>
            <a:r>
              <a:t>• использует полную информацию;</a:t>
            </a:r>
          </a:p>
          <a:p>
            <a:r>
              <a:t>• всегда даёт ранжирование;</a:t>
            </a:r>
          </a:p>
          <a:p>
            <a:r>
              <a:t>• Парето + монотонность.</a:t>
            </a:r>
          </a:p>
          <a:p>
            <a:r>
              <a:t>Недостатки:</a:t>
            </a:r>
          </a:p>
          <a:p>
            <a:r>
              <a:t>• нарушает условие Кондорсе;</a:t>
            </a:r>
          </a:p>
          <a:p>
            <a:r>
              <a:t>• уязвим к стратегическому голосованию.</a:t>
            </a:r>
          </a:p>
          <a:p>
            <a:r>
              <a:t>Применение: Eurovision, NCAA, оценка поставщиков.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Теорема Эрроу (1951)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При m ≥ 3 не существует алгоритма, удовлетворяющего одновременно 4 аксиомам:</a:t>
            </a:r>
          </a:p>
          <a:p>
            <a:r>
              <a:t>1) универсальная область;</a:t>
            </a:r>
          </a:p>
          <a:p>
            <a:r>
              <a:t>2) принцип Парето;</a:t>
            </a:r>
          </a:p>
          <a:p>
            <a:r>
              <a:t>3) независимость от посторонних альтернатив (IIA);</a:t>
            </a:r>
          </a:p>
          <a:p>
            <a:r>
              <a:t>4) отсутствие диктатора.</a:t>
            </a:r>
          </a:p>
          <a:p>
            <a:r>
              <a:t>Следствие: любая процедура коллективного выбора жертвует одной из аксиом.</a:t>
            </a:r>
          </a:p>
          <a:p>
            <a:r>
              <a:t>Способы обхода: MAUT, теорема Блэка, вероятностные процедуры.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Пример: выбор СМК для IT-компании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8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Arial"/>
              </a:rPr>
              <a:t>Альтернативы: A — ISO 9001, B — CMMI-DEV, C — Six Sigma, D — Agile + ISO/IEC 33000.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72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latin typeface="Arial"/>
              </a:rPr>
              <a:t>Профиль предпочтений 5 экспертов: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2052000"/>
          <a:ext cx="522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/>
                <a:gridCol w="1044000"/>
                <a:gridCol w="1044000"/>
                <a:gridCol w="1044000"/>
                <a:gridCol w="1044000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Эксперт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1-е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2-е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3-е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4-е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e₁ (ген. дир.)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e₂ (CTO)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e₃ (CQO)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e₄ (рук. разр.)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e₅ (CFO)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23232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0000" y="1728000"/>
            <a:ext cx="55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latin typeface="Arial"/>
              </a:rPr>
              <a:t>Применённые алгоритмы:</a:t>
            </a:r>
          </a:p>
          <a:p>
            <a:r>
              <a:rPr sz="1300" b="0">
                <a:latin typeface="Arial"/>
              </a:rPr>
              <a:t/>
            </a:r>
          </a:p>
          <a:p>
            <a:r>
              <a:rPr sz="1300" b="0">
                <a:latin typeface="Arial"/>
              </a:rPr>
              <a:t>1. Правило большинства — 3 первых места у A.</a:t>
            </a:r>
          </a:p>
          <a:p>
            <a:r>
              <a:rPr sz="1300" b="0">
                <a:latin typeface="Arial"/>
              </a:rPr>
              <a:t/>
            </a:r>
          </a:p>
          <a:p>
            <a:r>
              <a:rPr sz="1300" b="0">
                <a:latin typeface="Arial"/>
              </a:rPr>
              <a:t>2. Кондорсе — A побеждает в попарных сравнениях B, C, D.</a:t>
            </a:r>
          </a:p>
          <a:p>
            <a:r>
              <a:rPr sz="1300" b="0">
                <a:latin typeface="Arial"/>
              </a:rPr>
              <a:t/>
            </a:r>
          </a:p>
          <a:p>
            <a:r>
              <a:rPr sz="1300" b="0">
                <a:latin typeface="Arial"/>
              </a:rPr>
              <a:t>3. Борда — A: 11, B: 10, D: 6, C: 3 баллов.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Сравнение алгоритмов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16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3F7F"/>
                </a:solidFill>
                <a:latin typeface="Arial"/>
              </a:rPr>
              <a:t>Все три алгоритма дали один результат — победитель A (ISO 9001:2015).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548000"/>
          <a:ext cx="72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Алгоритм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Победитель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Ранжирование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Ключевое свойство</a:t>
                      </a:r>
                    </a:p>
                  </a:txBody>
                  <a:tcPr>
                    <a:solidFill>
                      <a:srgbClr val="003F7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Правило большинства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A (60%)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A ≻ {B, D} ≻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Простота, использует только 1-е место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Принцип Кондорсе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A ≻ B ≻ D ≻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Попарные сравнения, нет цикла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Метод Борда (баллы)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A 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A(11) ≻ B(10) ≻ D(6) ≻ C(3)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23232"/>
                          </a:solidFill>
                          <a:latin typeface="Arial"/>
                        </a:rPr>
                        <a:t>Полное ранжирование, баллы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2000" y="41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Arial"/>
              </a:rPr>
              <a:t>Согласованность результатов повышает доверие к решению.</a:t>
            </a:r>
          </a:p>
          <a:p>
            <a:r>
              <a:rPr sz="1400" b="0">
                <a:latin typeface="Arial"/>
              </a:rPr>
              <a:t>Анализ чувствительности: победитель устойчив к перестановкам у одного эксперта.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Рассмотрены классические алгоритмы коллективного выбора: правило большинства, Кондорсе, метод Борда.</a:t>
            </a:r>
          </a:p>
          <a:p>
            <a:r>
              <a:t>Показан парадокс Кондорсе и теорема Эрроу о невозможности идеального алгоритма.</a:t>
            </a:r>
          </a:p>
          <a:p>
            <a:r>
              <a:t>Применение к задаче выбора СМК для IT-компании дало согласованный результат — ISO 9001:2015.</a:t>
            </a:r>
          </a:p>
          <a:p>
            <a:r>
              <a:t>Методы применимы в задачах УКОС, работе экспертных комитетов и СППР.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Спасибо за внимание!</a:t>
            </a:r>
          </a:p>
          <a:p>
            <a:r>
              <a:t/>
            </a:r>
          </a:p>
          <a:p>
            <a:r>
              <a:t>Д. С. Рослов, гр. М558М</a:t>
            </a:r>
          </a:p>
          <a:p>
            <a:r>
              <a:t>roslov.dima00@mail.ru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Универсальные блоки - таблицы, рисунки, диаграммы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001A831C-BEEC-4D03-A706-230513593B8E}"/>
    </a:ext>
  </a:extLst>
</a:theme>
</file>

<file path=ppt/theme/theme4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2</TotalTime>
  <Words>1643</Words>
  <Application>Microsoft Office PowerPoint</Application>
  <PresentationFormat>Широкоэкранный</PresentationFormat>
  <Paragraphs>176</Paragraphs>
  <Slides>29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29</vt:i4>
      </vt:variant>
    </vt:vector>
  </HeadingPairs>
  <TitlesOfParts>
    <vt:vector size="36" baseType="lpstr">
      <vt:lpstr>Calibri</vt:lpstr>
      <vt:lpstr>Wingdings</vt:lpstr>
      <vt:lpstr>Arial</vt:lpstr>
      <vt:lpstr>Титульная страница</vt:lpstr>
      <vt:lpstr>Текстовые блоки</vt:lpstr>
      <vt:lpstr>Универсальные блоки - таблицы, рисунки, диаграммы</vt:lpstr>
      <vt:lpstr>Дополнительные блоки</vt:lpstr>
      <vt:lpstr>Фирменный стиль  презентаций</vt:lpstr>
      <vt:lpstr>Основные правила: направляющие, стили</vt:lpstr>
      <vt:lpstr>Основные правила: макеты и цветовая палитра</vt:lpstr>
      <vt:lpstr>Основные правила: текстовые стили</vt:lpstr>
      <vt:lpstr>Основные правила: текстовые стили</vt:lpstr>
      <vt:lpstr>Основные правила: таблицы</vt:lpstr>
      <vt:lpstr>Основные правила: изображения</vt:lpstr>
      <vt:lpstr>Пример использования  макетов шаблона</vt:lpstr>
      <vt:lpstr>Заголовок презентации</vt:lpstr>
      <vt:lpstr>Текст – один блок</vt:lpstr>
      <vt:lpstr>Текст – два блока</vt:lpstr>
      <vt:lpstr>Текст – два блока (с рамкой)</vt:lpstr>
      <vt:lpstr>Текст – две колонки в одном блоке</vt:lpstr>
      <vt:lpstr>Содержимое слайда в одной колонке (универсальный блок)</vt:lpstr>
      <vt:lpstr>Содержимое слайда в одной колонке с заголовком (универсальный блок)</vt:lpstr>
      <vt:lpstr>Содержимое слайда в двух колонках с заголовками (универсальный блок)</vt:lpstr>
      <vt:lpstr>Текст и диаграмма в двух колонках (универсальный блок)</vt:lpstr>
      <vt:lpstr>Текст и рисунок в двух колонках (универсальный блок)</vt:lpstr>
      <vt:lpstr>Схема с использованием базового набора фигур  (см. Дополнительные материалы, слайд 26)</vt:lpstr>
      <vt:lpstr>Здание ГУАП со стороны реки Мойки</vt:lpstr>
      <vt:lpstr>Презентация PowerPoint</vt:lpstr>
      <vt:lpstr>Презентация PowerPoint</vt:lpstr>
      <vt:lpstr>Дополнительные  материалы </vt:lpstr>
      <vt:lpstr>Иконки подразделений. Фирменный цвет подразделений</vt:lpstr>
      <vt:lpstr>Иконки подразделений. Цветовая палитра ГУАП</vt:lpstr>
      <vt:lpstr>Базовый набор фигур *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Алексей Малышев</cp:lastModifiedBy>
  <cp:revision>2</cp:revision>
  <dcterms:created xsi:type="dcterms:W3CDTF">2023-06-16T08:15:39Z</dcterms:created>
  <dcterms:modified xsi:type="dcterms:W3CDTF">2023-06-16T08:17:59Z</dcterms:modified>
  <cp:category/>
</cp:coreProperties>
</file>